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1" r:id="rId18"/>
    <p:sldId id="272" r:id="rId19"/>
    <p:sldId id="276" r:id="rId20"/>
    <p:sldId id="277" r:id="rId21"/>
    <p:sldId id="286" r:id="rId22"/>
    <p:sldId id="273" r:id="rId23"/>
    <p:sldId id="275" r:id="rId24"/>
    <p:sldId id="278" r:id="rId25"/>
    <p:sldId id="279" r:id="rId26"/>
    <p:sldId id="280" r:id="rId27"/>
    <p:sldId id="281" r:id="rId28"/>
    <p:sldId id="282" r:id="rId29"/>
    <p:sldId id="283" r:id="rId30"/>
    <p:sldId id="284" r:id="rId31"/>
    <p:sldId id="285" r:id="rId32"/>
    <p:sldId id="29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9CB52B7-FA18-4636-8786-54C768B28D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9CB52B7-FA18-4636-8786-54C768B28D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CB52B7-FA18-4636-8786-54C768B28D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9CB52B7-FA18-4636-8786-54C768B28DF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9CB52B7-FA18-4636-8786-54C768B28DF6}"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9CB52B7-FA18-4636-8786-54C768B28DF6}"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CB52B7-FA18-4636-8786-54C768B28DF6}" type="datetimeFigureOut">
              <a:rPr lang="en-IN" smtClean="0"/>
              <a:t>28-11-2025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CB52B7-FA18-4636-8786-54C768B28DF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CB52B7-FA18-4636-8786-54C768B28DF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9CB52B7-FA18-4636-8786-54C768B28D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9CB52B7-FA18-4636-8786-54C768B28D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4A0F6F-CF56-4AD8-9CFF-196A530D077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CB52B7-FA18-4636-8786-54C768B28DF6}" type="datetimeFigureOut">
              <a:rPr lang="en-IN" smtClean="0"/>
              <a:t>28-11-2025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4A0F6F-CF56-4AD8-9CFF-196A530D077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MERGE VS JOIN</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754803" y="956049"/>
            <a:ext cx="6036935" cy="4351338"/>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262808" y="1905612"/>
            <a:ext cx="7666384" cy="4191363"/>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354256" y="2416196"/>
            <a:ext cx="7483488" cy="3170195"/>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377117" y="2225680"/>
            <a:ext cx="7437765" cy="3551228"/>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361876" y="2313317"/>
            <a:ext cx="7468247" cy="337595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 name="Content Placeholder 4"/>
          <p:cNvPicPr>
            <a:picLocks noGrp="1" noChangeAspect="1"/>
          </p:cNvPicPr>
          <p:nvPr>
            <p:ph idx="1"/>
          </p:nvPr>
        </p:nvPicPr>
        <p:blipFill>
          <a:blip r:embed="rId2"/>
          <a:stretch>
            <a:fillRect/>
          </a:stretch>
        </p:blipFill>
        <p:spPr>
          <a:xfrm>
            <a:off x="2396169" y="2530506"/>
            <a:ext cx="7399661" cy="294157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243939" y="1425388"/>
            <a:ext cx="5219320" cy="3173506"/>
          </a:xfrm>
        </p:spPr>
      </p:pic>
      <p:pic>
        <p:nvPicPr>
          <p:cNvPr id="7" name="Picture 6"/>
          <p:cNvPicPr>
            <a:picLocks noChangeAspect="1"/>
          </p:cNvPicPr>
          <p:nvPr/>
        </p:nvPicPr>
        <p:blipFill>
          <a:blip r:embed="rId3"/>
          <a:stretch>
            <a:fillRect/>
          </a:stretch>
        </p:blipFill>
        <p:spPr>
          <a:xfrm>
            <a:off x="472882" y="1765504"/>
            <a:ext cx="5311600" cy="21795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12679" y="1500033"/>
            <a:ext cx="11340337" cy="3264471"/>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0282"/>
            <a:ext cx="10515600" cy="5486681"/>
          </a:xfrm>
        </p:spPr>
        <p:txBody>
          <a:bodyPr>
            <a:normAutofit/>
          </a:bodyPr>
          <a:lstStyle/>
          <a:p>
            <a:pPr marL="0" indent="0">
              <a:buNone/>
            </a:pPr>
            <a:r>
              <a:rPr lang="en-IN" sz="2000" b="1" i="0" dirty="0">
                <a:solidFill>
                  <a:srgbClr val="000000"/>
                </a:solidFill>
                <a:effectLst/>
                <a:latin typeface="+mj-lt"/>
              </a:rPr>
              <a:t>raw_data_1 = {</a:t>
            </a:r>
            <a:br>
              <a:rPr lang="en-IN" sz="2000" b="1" dirty="0">
                <a:latin typeface="+mj-lt"/>
              </a:rPr>
            </a:br>
            <a:r>
              <a:rPr lang="en-IN" sz="2000" b="1" i="0" dirty="0">
                <a:solidFill>
                  <a:srgbClr val="000000"/>
                </a:solidFill>
                <a:effectLst/>
                <a:latin typeface="+mj-lt"/>
              </a:rPr>
              <a:t>subject_id': ['1', '2', '3', '4', '5'],</a:t>
            </a:r>
            <a:br>
              <a:rPr lang="en-IN" sz="2000" b="1" dirty="0">
                <a:latin typeface="+mj-lt"/>
              </a:rPr>
            </a:br>
            <a:r>
              <a:rPr lang="en-IN" sz="2000" b="1" i="0" dirty="0">
                <a:solidFill>
                  <a:srgbClr val="000000"/>
                </a:solidFill>
                <a:effectLst/>
                <a:latin typeface="+mj-lt"/>
              </a:rPr>
              <a:t>'</a:t>
            </a:r>
            <a:r>
              <a:rPr lang="en-IN" sz="2000" b="1" i="0" dirty="0" err="1">
                <a:solidFill>
                  <a:srgbClr val="000000"/>
                </a:solidFill>
                <a:effectLst/>
                <a:latin typeface="+mj-lt"/>
              </a:rPr>
              <a:t>first_name</a:t>
            </a:r>
            <a:r>
              <a:rPr lang="en-IN" sz="2000" b="1" i="0" dirty="0">
                <a:solidFill>
                  <a:srgbClr val="000000"/>
                </a:solidFill>
                <a:effectLst/>
                <a:latin typeface="+mj-lt"/>
              </a:rPr>
              <a:t>': ['Alex', 'Amy', 'Allen', 'Alice', '</a:t>
            </a:r>
            <a:r>
              <a:rPr lang="en-IN" sz="2000" b="1" i="0" dirty="0" err="1">
                <a:solidFill>
                  <a:srgbClr val="000000"/>
                </a:solidFill>
                <a:effectLst/>
                <a:latin typeface="+mj-lt"/>
              </a:rPr>
              <a:t>Ayoung</a:t>
            </a:r>
            <a:r>
              <a:rPr lang="en-IN" sz="2000" b="1" i="0" dirty="0">
                <a:solidFill>
                  <a:srgbClr val="000000"/>
                </a:solidFill>
                <a:effectLst/>
                <a:latin typeface="+mj-lt"/>
              </a:rPr>
              <a:t>'],</a:t>
            </a:r>
            <a:br>
              <a:rPr lang="en-IN" sz="2000" b="1" dirty="0">
                <a:latin typeface="+mj-lt"/>
              </a:rPr>
            </a:br>
            <a:r>
              <a:rPr lang="en-IN" sz="2000" b="1" i="0" dirty="0">
                <a:solidFill>
                  <a:srgbClr val="000000"/>
                </a:solidFill>
                <a:effectLst/>
                <a:latin typeface="+mj-lt"/>
              </a:rPr>
              <a:t>'</a:t>
            </a:r>
            <a:r>
              <a:rPr lang="en-IN" sz="2000" b="1" i="0" dirty="0" err="1">
                <a:solidFill>
                  <a:srgbClr val="000000"/>
                </a:solidFill>
                <a:effectLst/>
                <a:latin typeface="+mj-lt"/>
              </a:rPr>
              <a:t>last_name</a:t>
            </a:r>
            <a:r>
              <a:rPr lang="en-IN" sz="2000" b="1" i="0" dirty="0">
                <a:solidFill>
                  <a:srgbClr val="000000"/>
                </a:solidFill>
                <a:effectLst/>
                <a:latin typeface="+mj-lt"/>
              </a:rPr>
              <a:t>': ['Anderson', 'Ackerman', 'Ali', '</a:t>
            </a:r>
            <a:r>
              <a:rPr lang="en-IN" sz="2000" b="1" i="0" dirty="0" err="1">
                <a:solidFill>
                  <a:srgbClr val="000000"/>
                </a:solidFill>
                <a:effectLst/>
                <a:latin typeface="+mj-lt"/>
              </a:rPr>
              <a:t>Aoni</a:t>
            </a:r>
            <a:r>
              <a:rPr lang="en-IN" sz="2000" b="1" i="0" dirty="0">
                <a:solidFill>
                  <a:srgbClr val="000000"/>
                </a:solidFill>
                <a:effectLst/>
                <a:latin typeface="+mj-lt"/>
              </a:rPr>
              <a:t>', '</a:t>
            </a:r>
            <a:r>
              <a:rPr lang="en-IN" sz="2000" b="1" i="0" dirty="0" err="1">
                <a:solidFill>
                  <a:srgbClr val="000000"/>
                </a:solidFill>
                <a:effectLst/>
                <a:latin typeface="+mj-lt"/>
              </a:rPr>
              <a:t>Atiches</a:t>
            </a:r>
            <a:r>
              <a:rPr lang="en-IN" sz="2000" b="1" i="0" dirty="0">
                <a:solidFill>
                  <a:srgbClr val="000000"/>
                </a:solidFill>
                <a:effectLst/>
                <a:latin typeface="+mj-lt"/>
              </a:rPr>
              <a:t>’]}</a:t>
            </a:r>
          </a:p>
          <a:p>
            <a:pPr marL="0" indent="0">
              <a:buNone/>
            </a:pPr>
            <a:r>
              <a:rPr lang="en-IN" sz="2000" b="1" i="0" dirty="0">
                <a:solidFill>
                  <a:srgbClr val="000000"/>
                </a:solidFill>
                <a:effectLst/>
                <a:latin typeface="+mj-lt"/>
              </a:rPr>
              <a:t>Data1=</a:t>
            </a:r>
            <a:r>
              <a:rPr lang="en-IN" sz="2000" b="1" i="0" dirty="0" err="1">
                <a:solidFill>
                  <a:srgbClr val="000000"/>
                </a:solidFill>
                <a:effectLst/>
                <a:latin typeface="+mj-lt"/>
              </a:rPr>
              <a:t>pd.DataFrame</a:t>
            </a:r>
            <a:r>
              <a:rPr lang="en-IN" sz="2000" b="1" i="0" dirty="0">
                <a:solidFill>
                  <a:srgbClr val="000000"/>
                </a:solidFill>
                <a:effectLst/>
                <a:latin typeface="+mj-lt"/>
              </a:rPr>
              <a:t>(raw_data_1)</a:t>
            </a:r>
            <a:br>
              <a:rPr lang="en-IN" sz="2000" b="1" dirty="0">
                <a:latin typeface="+mj-lt"/>
              </a:rPr>
            </a:br>
            <a:endParaRPr lang="en-IN" sz="2000" b="1" dirty="0">
              <a:latin typeface="+mj-lt"/>
            </a:endParaRPr>
          </a:p>
          <a:p>
            <a:pPr marL="0" indent="0">
              <a:buNone/>
            </a:pPr>
            <a:r>
              <a:rPr lang="en-IN" sz="2000" b="1" i="0" dirty="0">
                <a:solidFill>
                  <a:srgbClr val="000000"/>
                </a:solidFill>
                <a:effectLst/>
                <a:latin typeface="+mj-lt"/>
              </a:rPr>
              <a:t>raw_data_2 = {</a:t>
            </a:r>
            <a:br>
              <a:rPr lang="en-IN" sz="2000" b="1" dirty="0">
                <a:latin typeface="+mj-lt"/>
              </a:rPr>
            </a:br>
            <a:r>
              <a:rPr lang="en-IN" sz="2000" b="1" i="0" dirty="0">
                <a:solidFill>
                  <a:srgbClr val="000000"/>
                </a:solidFill>
                <a:effectLst/>
                <a:latin typeface="+mj-lt"/>
              </a:rPr>
              <a:t>'subject_id': ['4', '5', '6', '7', '8'],</a:t>
            </a:r>
            <a:br>
              <a:rPr lang="en-IN" sz="2000" b="1" dirty="0">
                <a:latin typeface="+mj-lt"/>
              </a:rPr>
            </a:br>
            <a:r>
              <a:rPr lang="en-IN" sz="2000" b="1" i="0" dirty="0">
                <a:solidFill>
                  <a:srgbClr val="000000"/>
                </a:solidFill>
                <a:effectLst/>
                <a:latin typeface="+mj-lt"/>
              </a:rPr>
              <a:t>'</a:t>
            </a:r>
            <a:r>
              <a:rPr lang="en-IN" sz="2000" b="1" i="0" dirty="0" err="1">
                <a:solidFill>
                  <a:srgbClr val="000000"/>
                </a:solidFill>
                <a:effectLst/>
                <a:latin typeface="+mj-lt"/>
              </a:rPr>
              <a:t>first_name</a:t>
            </a:r>
            <a:r>
              <a:rPr lang="en-IN" sz="2000" b="1" i="0" dirty="0">
                <a:solidFill>
                  <a:srgbClr val="000000"/>
                </a:solidFill>
                <a:effectLst/>
                <a:latin typeface="+mj-lt"/>
              </a:rPr>
              <a:t>': ['Billy', 'Brian', 'Bran', 'Bryce', 'Betty'],</a:t>
            </a:r>
            <a:br>
              <a:rPr lang="en-IN" sz="2000" b="1" dirty="0">
                <a:latin typeface="+mj-lt"/>
              </a:rPr>
            </a:br>
            <a:r>
              <a:rPr lang="en-IN" sz="2000" b="1" i="0" dirty="0">
                <a:solidFill>
                  <a:srgbClr val="000000"/>
                </a:solidFill>
                <a:effectLst/>
                <a:latin typeface="+mj-lt"/>
              </a:rPr>
              <a:t>'</a:t>
            </a:r>
            <a:r>
              <a:rPr lang="en-IN" sz="2000" b="1" i="0" dirty="0" err="1">
                <a:solidFill>
                  <a:srgbClr val="000000"/>
                </a:solidFill>
                <a:effectLst/>
                <a:latin typeface="+mj-lt"/>
              </a:rPr>
              <a:t>last_name</a:t>
            </a:r>
            <a:r>
              <a:rPr lang="en-IN" sz="2000" b="1" i="0" dirty="0">
                <a:solidFill>
                  <a:srgbClr val="000000"/>
                </a:solidFill>
                <a:effectLst/>
                <a:latin typeface="+mj-lt"/>
              </a:rPr>
              <a:t>': ['Bonder', 'Black', '</a:t>
            </a:r>
            <a:r>
              <a:rPr lang="en-IN" sz="2000" b="1" i="0" dirty="0" err="1">
                <a:solidFill>
                  <a:srgbClr val="000000"/>
                </a:solidFill>
                <a:effectLst/>
                <a:latin typeface="+mj-lt"/>
              </a:rPr>
              <a:t>Balwner</a:t>
            </a:r>
            <a:r>
              <a:rPr lang="en-IN" sz="2000" b="1" i="0" dirty="0">
                <a:solidFill>
                  <a:srgbClr val="000000"/>
                </a:solidFill>
                <a:effectLst/>
                <a:latin typeface="+mj-lt"/>
              </a:rPr>
              <a:t>', 'Brice', '</a:t>
            </a:r>
            <a:r>
              <a:rPr lang="en-IN" sz="2000" b="1" i="0" dirty="0" err="1">
                <a:solidFill>
                  <a:srgbClr val="000000"/>
                </a:solidFill>
                <a:effectLst/>
                <a:latin typeface="+mj-lt"/>
              </a:rPr>
              <a:t>Btisan</a:t>
            </a:r>
            <a:r>
              <a:rPr lang="en-IN" sz="2000" b="1" i="0" dirty="0">
                <a:solidFill>
                  <a:srgbClr val="000000"/>
                </a:solidFill>
                <a:effectLst/>
                <a:latin typeface="+mj-lt"/>
              </a:rPr>
              <a:t>']}</a:t>
            </a:r>
            <a:br>
              <a:rPr lang="en-IN" sz="2000" b="1" dirty="0">
                <a:latin typeface="+mj-lt"/>
              </a:rPr>
            </a:br>
            <a:r>
              <a:rPr lang="en-IN" sz="2000" b="1" i="0" dirty="0">
                <a:solidFill>
                  <a:srgbClr val="000000"/>
                </a:solidFill>
                <a:effectLst/>
                <a:latin typeface="+mj-lt"/>
              </a:rPr>
              <a:t>Data2=</a:t>
            </a:r>
            <a:r>
              <a:rPr lang="en-IN" sz="2000" b="1" i="0" dirty="0" err="1">
                <a:solidFill>
                  <a:srgbClr val="000000"/>
                </a:solidFill>
                <a:effectLst/>
                <a:latin typeface="+mj-lt"/>
              </a:rPr>
              <a:t>pd.DataFrame</a:t>
            </a:r>
            <a:r>
              <a:rPr lang="en-IN" sz="2000" b="1" i="0" dirty="0">
                <a:solidFill>
                  <a:srgbClr val="000000"/>
                </a:solidFill>
                <a:effectLst/>
                <a:latin typeface="+mj-lt"/>
              </a:rPr>
              <a:t>(raw_data_2)</a:t>
            </a:r>
            <a:br>
              <a:rPr lang="en-IN" sz="2000" b="1" dirty="0">
                <a:latin typeface="+mj-lt"/>
              </a:rPr>
            </a:br>
            <a:endParaRPr lang="en-IN" sz="2000" b="1" dirty="0">
              <a:latin typeface="+mj-lt"/>
            </a:endParaRPr>
          </a:p>
          <a:p>
            <a:pPr marL="0" indent="0">
              <a:buNone/>
            </a:pPr>
            <a:r>
              <a:rPr lang="en-IN" sz="2000" b="1" i="0" dirty="0">
                <a:solidFill>
                  <a:srgbClr val="000000"/>
                </a:solidFill>
                <a:effectLst/>
                <a:latin typeface="+mj-lt"/>
              </a:rPr>
              <a:t>raw_data_3 = {</a:t>
            </a:r>
            <a:br>
              <a:rPr lang="en-IN" sz="2000" b="1" dirty="0">
                <a:latin typeface="+mj-lt"/>
              </a:rPr>
            </a:br>
            <a:r>
              <a:rPr lang="en-IN" sz="2000" b="1" i="0" dirty="0">
                <a:solidFill>
                  <a:srgbClr val="000000"/>
                </a:solidFill>
                <a:effectLst/>
                <a:latin typeface="+mj-lt"/>
              </a:rPr>
              <a:t>'subject_id': ['1', '2', '3', '4', '5', '7', '8', '9', '10', '11'],</a:t>
            </a:r>
            <a:br>
              <a:rPr lang="en-IN" sz="2000" b="1" dirty="0">
                <a:latin typeface="+mj-lt"/>
              </a:rPr>
            </a:br>
            <a:r>
              <a:rPr lang="en-IN" sz="2000" b="1" i="0" dirty="0">
                <a:solidFill>
                  <a:srgbClr val="000000"/>
                </a:solidFill>
                <a:effectLst/>
                <a:latin typeface="+mj-lt"/>
              </a:rPr>
              <a:t>'</a:t>
            </a:r>
            <a:r>
              <a:rPr lang="en-IN" sz="2000" b="1" i="0" dirty="0" err="1">
                <a:solidFill>
                  <a:srgbClr val="000000"/>
                </a:solidFill>
                <a:effectLst/>
                <a:latin typeface="+mj-lt"/>
              </a:rPr>
              <a:t>test_id</a:t>
            </a:r>
            <a:r>
              <a:rPr lang="en-IN" sz="2000" b="1" i="0" dirty="0">
                <a:solidFill>
                  <a:srgbClr val="000000"/>
                </a:solidFill>
                <a:effectLst/>
                <a:latin typeface="+mj-lt"/>
              </a:rPr>
              <a:t>': [51, 15, 15, 61, 16, 14, 15, 1, 61, 16]}</a:t>
            </a:r>
            <a:br>
              <a:rPr lang="en-IN" sz="2000" b="1" dirty="0">
                <a:latin typeface="+mj-lt"/>
              </a:rPr>
            </a:br>
            <a:r>
              <a:rPr lang="en-IN" sz="2000" b="1" i="0" dirty="0">
                <a:solidFill>
                  <a:srgbClr val="000000"/>
                </a:solidFill>
                <a:effectLst/>
                <a:latin typeface="+mj-lt"/>
              </a:rPr>
              <a:t>Data3=</a:t>
            </a:r>
            <a:r>
              <a:rPr lang="en-IN" sz="2000" b="1" i="0" dirty="0" err="1">
                <a:solidFill>
                  <a:srgbClr val="000000"/>
                </a:solidFill>
                <a:effectLst/>
                <a:latin typeface="+mj-lt"/>
              </a:rPr>
              <a:t>pd.DataFrame</a:t>
            </a:r>
            <a:r>
              <a:rPr lang="en-IN" sz="2000" b="1" i="0" dirty="0">
                <a:solidFill>
                  <a:srgbClr val="000000"/>
                </a:solidFill>
                <a:effectLst/>
                <a:latin typeface="+mj-lt"/>
              </a:rPr>
              <a:t>(raw_data_3)</a:t>
            </a:r>
            <a:endParaRPr lang="en-IN" sz="2000" b="1"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88773" y="609600"/>
            <a:ext cx="5237737" cy="2662517"/>
          </a:xfrm>
        </p:spPr>
      </p:pic>
      <p:pic>
        <p:nvPicPr>
          <p:cNvPr id="9" name="Picture 8"/>
          <p:cNvPicPr>
            <a:picLocks noChangeAspect="1"/>
          </p:cNvPicPr>
          <p:nvPr/>
        </p:nvPicPr>
        <p:blipFill>
          <a:blip r:embed="rId3"/>
          <a:stretch>
            <a:fillRect/>
          </a:stretch>
        </p:blipFill>
        <p:spPr>
          <a:xfrm>
            <a:off x="6024282" y="609600"/>
            <a:ext cx="4246429" cy="2572871"/>
          </a:xfrm>
          <a:prstGeom prst="rect">
            <a:avLst/>
          </a:prstGeom>
        </p:spPr>
      </p:pic>
      <p:pic>
        <p:nvPicPr>
          <p:cNvPr id="11" name="Picture 10"/>
          <p:cNvPicPr>
            <a:picLocks noChangeAspect="1"/>
          </p:cNvPicPr>
          <p:nvPr/>
        </p:nvPicPr>
        <p:blipFill>
          <a:blip r:embed="rId4"/>
          <a:stretch>
            <a:fillRect/>
          </a:stretch>
        </p:blipFill>
        <p:spPr>
          <a:xfrm>
            <a:off x="4556229" y="3272117"/>
            <a:ext cx="3063771" cy="32785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354256" y="2153284"/>
            <a:ext cx="7483488" cy="369602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33238" y="2087764"/>
            <a:ext cx="7331075" cy="2682472"/>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572871" y="956828"/>
            <a:ext cx="6040865" cy="522013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842538" y="1825625"/>
            <a:ext cx="6506924" cy="4351338"/>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133256" y="2983936"/>
            <a:ext cx="7925487" cy="2034716"/>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20894" y="1840837"/>
            <a:ext cx="7750212" cy="4320914"/>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156889" y="1825625"/>
            <a:ext cx="3878221" cy="4351338"/>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normAutofit fontScale="55000" lnSpcReduction="20000"/>
          </a:bodyPr>
          <a:lstStyle/>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pandas</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as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pd</a:t>
            </a:r>
            <a:endParaRPr lang="en-IN" b="0" dirty="0">
              <a:solidFill>
                <a:srgbClr val="000000"/>
              </a:solidFill>
              <a:effectLst/>
              <a:latin typeface="Consolas" panose="020B0609020204030204" pitchFamily="49" charset="0"/>
            </a:endParaRPr>
          </a:p>
          <a:p>
            <a:pPr marL="0" indent="0">
              <a:buNone/>
            </a:pPr>
            <a:r>
              <a:rPr lang="en-IN" b="0" dirty="0">
                <a:solidFill>
                  <a:srgbClr val="001080"/>
                </a:solidFill>
                <a:effectLst/>
                <a:latin typeface="Consolas" panose="020B0609020204030204" pitchFamily="49" charset="0"/>
              </a:rPr>
              <a:t>Data1</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productname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'Amul </a:t>
            </a:r>
            <a:r>
              <a:rPr lang="en-IN" b="0" dirty="0" err="1">
                <a:solidFill>
                  <a:srgbClr val="A31515"/>
                </a:solidFill>
                <a:effectLst/>
                <a:latin typeface="Consolas" panose="020B0609020204030204" pitchFamily="49" charset="0"/>
              </a:rPr>
              <a:t>Ghee'</a:t>
            </a:r>
            <a:r>
              <a:rPr lang="en-IN" b="0" dirty="0" err="1">
                <a:solidFill>
                  <a:srgbClr val="000000"/>
                </a:solidFill>
                <a:effectLst/>
                <a:latin typeface="Consolas" panose="020B0609020204030204" pitchFamily="49" charset="0"/>
              </a:rPr>
              <a:t>,</a:t>
            </a:r>
            <a:r>
              <a:rPr lang="en-IN" b="0" dirty="0" err="1">
                <a:solidFill>
                  <a:srgbClr val="A31515"/>
                </a:solidFill>
                <a:effectLst/>
                <a:latin typeface="Consolas" panose="020B0609020204030204" pitchFamily="49" charset="0"/>
              </a:rPr>
              <a:t>'Pepsi'</a:t>
            </a:r>
            <a:r>
              <a:rPr lang="en-IN" b="0" dirty="0" err="1">
                <a:solidFill>
                  <a:srgbClr val="000000"/>
                </a:solidFill>
                <a:effectLst/>
                <a:latin typeface="Consolas" panose="020B0609020204030204" pitchFamily="49" charset="0"/>
              </a:rPr>
              <a:t>,</a:t>
            </a:r>
            <a:r>
              <a:rPr lang="en-IN" b="0" dirty="0" err="1">
                <a:solidFill>
                  <a:srgbClr val="A31515"/>
                </a:solidFill>
                <a:effectLst/>
                <a:latin typeface="Consolas" panose="020B0609020204030204" pitchFamily="49" charset="0"/>
              </a:rPr>
              <a:t>'Real</a:t>
            </a:r>
            <a:r>
              <a:rPr lang="en-IN" b="0" dirty="0">
                <a:solidFill>
                  <a:srgbClr val="A31515"/>
                </a:solidFill>
                <a:effectLst/>
                <a:latin typeface="Consolas" panose="020B0609020204030204" pitchFamily="49" charset="0"/>
              </a:rPr>
              <a:t> Juice'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Dawat</a:t>
            </a:r>
            <a:r>
              <a:rPr lang="en-IN" b="0" dirty="0">
                <a:solidFill>
                  <a:srgbClr val="A31515"/>
                </a:solidFill>
                <a:effectLst/>
                <a:latin typeface="Consolas" panose="020B0609020204030204" pitchFamily="49" charset="0"/>
              </a:rPr>
              <a:t> </a:t>
            </a:r>
            <a:r>
              <a:rPr lang="en-IN" b="0" dirty="0" err="1">
                <a:solidFill>
                  <a:srgbClr val="A31515"/>
                </a:solidFill>
                <a:effectLst/>
                <a:latin typeface="Consolas" panose="020B0609020204030204" pitchFamily="49" charset="0"/>
              </a:rPr>
              <a:t>Rice'</a:t>
            </a:r>
            <a:r>
              <a:rPr lang="en-IN" b="0" dirty="0" err="1">
                <a:solidFill>
                  <a:srgbClr val="000000"/>
                </a:solidFill>
                <a:effectLst/>
                <a:latin typeface="Consolas" panose="020B0609020204030204" pitchFamily="49" charset="0"/>
              </a:rPr>
              <a:t>,</a:t>
            </a:r>
            <a:r>
              <a:rPr lang="en-IN" b="0" dirty="0" err="1">
                <a:solidFill>
                  <a:srgbClr val="A31515"/>
                </a:solidFill>
                <a:effectLst/>
                <a:latin typeface="Consolas" panose="020B0609020204030204" pitchFamily="49" charset="0"/>
              </a:rPr>
              <a:t>'Dove</a:t>
            </a:r>
            <a:r>
              <a:rPr lang="en-IN" b="0" dirty="0">
                <a:solidFill>
                  <a:srgbClr val="A31515"/>
                </a:solidFill>
                <a:effectLst/>
                <a:latin typeface="Consolas" panose="020B0609020204030204" pitchFamily="49" charset="0"/>
              </a:rPr>
              <a:t> Shampoo'</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120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'offer'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600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18</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110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Date2</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qtysale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Data3</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600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productname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'Amul Butter'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Parle</a:t>
            </a:r>
            <a:r>
              <a:rPr lang="en-IN" b="0" dirty="0">
                <a:solidFill>
                  <a:srgbClr val="A31515"/>
                </a:solidFill>
                <a:effectLst/>
                <a:latin typeface="Consolas" panose="020B0609020204030204" pitchFamily="49" charset="0"/>
              </a:rPr>
              <a:t> G'</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'offer'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18</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5484"/>
            <a:ext cx="10515600" cy="5611479"/>
          </a:xfrm>
        </p:spPr>
        <p:txBody>
          <a:bodyPr>
            <a:normAutofit fontScale="40000" lnSpcReduction="20000"/>
          </a:bodyPr>
          <a:lstStyle/>
          <a:p>
            <a:pPr marL="0" indent="0">
              <a:buNone/>
            </a:pPr>
            <a:r>
              <a:rPr lang="en-IN" sz="4300" b="1" dirty="0">
                <a:solidFill>
                  <a:srgbClr val="001080"/>
                </a:solidFill>
                <a:effectLst/>
                <a:latin typeface="Consolas" panose="020B0609020204030204" pitchFamily="49" charset="0"/>
              </a:rPr>
              <a:t>Example MERGE</a:t>
            </a:r>
          </a:p>
          <a:p>
            <a:pPr marL="0" indent="0">
              <a:buNone/>
            </a:pPr>
            <a:r>
              <a:rPr lang="en-IN" sz="4300" b="0" dirty="0">
                <a:solidFill>
                  <a:srgbClr val="001080"/>
                </a:solidFill>
                <a:effectLst/>
                <a:latin typeface="Consolas" panose="020B0609020204030204" pitchFamily="49" charset="0"/>
              </a:rPr>
              <a:t>product</a:t>
            </a:r>
            <a:r>
              <a:rPr lang="en-IN" sz="4300" b="0" dirty="0">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pd</a:t>
            </a:r>
            <a:r>
              <a:rPr lang="en-IN" sz="4300" b="0" dirty="0" err="1">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DataFrame</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Data1</a:t>
            </a:r>
            <a:r>
              <a:rPr lang="en-IN" sz="4300" b="0" dirty="0">
                <a:solidFill>
                  <a:srgbClr val="000000"/>
                </a:solidFill>
                <a:effectLst/>
                <a:latin typeface="Consolas" panose="020B0609020204030204" pitchFamily="49" charset="0"/>
              </a:rPr>
              <a:t>)</a:t>
            </a:r>
          </a:p>
          <a:p>
            <a:pPr marL="0" indent="0">
              <a:buNone/>
            </a:pPr>
            <a:r>
              <a:rPr lang="en-IN" sz="4300" b="0" dirty="0">
                <a:solidFill>
                  <a:srgbClr val="001080"/>
                </a:solidFill>
                <a:effectLst/>
                <a:latin typeface="Consolas" panose="020B0609020204030204" pitchFamily="49" charset="0"/>
              </a:rPr>
              <a:t>sales</a:t>
            </a:r>
            <a:r>
              <a:rPr lang="en-IN" sz="4300" b="0" dirty="0">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pd</a:t>
            </a:r>
            <a:r>
              <a:rPr lang="en-IN" sz="4300" b="0" dirty="0" err="1">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DataFrame</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Date2</a:t>
            </a:r>
            <a:r>
              <a:rPr lang="en-IN" sz="4300" b="0" dirty="0">
                <a:solidFill>
                  <a:srgbClr val="000000"/>
                </a:solidFill>
                <a:effectLst/>
                <a:latin typeface="Consolas" panose="020B0609020204030204" pitchFamily="49" charset="0"/>
              </a:rPr>
              <a:t>)</a:t>
            </a:r>
          </a:p>
          <a:p>
            <a:pPr marL="0" indent="0">
              <a:buNone/>
            </a:pPr>
            <a:r>
              <a:rPr lang="en-IN" sz="4300" b="0" dirty="0">
                <a:solidFill>
                  <a:srgbClr val="001080"/>
                </a:solidFill>
                <a:effectLst/>
                <a:latin typeface="Consolas" panose="020B0609020204030204" pitchFamily="49" charset="0"/>
              </a:rPr>
              <a:t>product2</a:t>
            </a:r>
            <a:r>
              <a:rPr lang="en-IN" sz="4300" b="0" dirty="0">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pd</a:t>
            </a:r>
            <a:r>
              <a:rPr lang="en-IN" sz="4300" b="0" dirty="0" err="1">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DataFrame</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Data3</a:t>
            </a:r>
            <a:r>
              <a:rPr lang="en-IN" sz="4300" b="0" dirty="0">
                <a:solidFill>
                  <a:srgbClr val="000000"/>
                </a:solidFill>
                <a:effectLst/>
                <a:latin typeface="Consolas" panose="020B0609020204030204" pitchFamily="49" charset="0"/>
              </a:rPr>
              <a:t>)</a:t>
            </a:r>
          </a:p>
          <a:p>
            <a:pPr marL="0" indent="0">
              <a:buNone/>
            </a:pPr>
            <a:r>
              <a:rPr lang="en-IN" sz="4300" b="0" dirty="0">
                <a:solidFill>
                  <a:srgbClr val="008000"/>
                </a:solidFill>
                <a:effectLst/>
                <a:latin typeface="Consolas" panose="020B0609020204030204" pitchFamily="49" charset="0"/>
              </a:rPr>
              <a:t>#result=pd.merge(product[['productid','rate']],sales[['productid','qtysale']])</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#result=pd.merge(product,sales,on='productid')</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#result=pd.merge(left=product,right=sales,)</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#result=pd.merge(product,sales,left_on='productid',right_on='pid')</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#result=pd.merge(product,sales,how='outer')</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#result=pd.merge(product,sales,left_index=True,right_index=True)</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#result=pd.merge(product,sales,indicator=True)</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#result=pd.merge(product,sales,how='outer',indicator=True)</a:t>
            </a:r>
            <a:endParaRPr lang="en-IN" sz="4300" b="0" dirty="0">
              <a:solidFill>
                <a:srgbClr val="000000"/>
              </a:solidFill>
              <a:effectLst/>
              <a:latin typeface="Consolas" panose="020B0609020204030204" pitchFamily="49" charset="0"/>
            </a:endParaRPr>
          </a:p>
          <a:p>
            <a:pPr marL="0" indent="0">
              <a:buNone/>
            </a:pPr>
            <a:r>
              <a:rPr lang="en-IN" sz="4300" b="0" dirty="0">
                <a:solidFill>
                  <a:srgbClr val="008000"/>
                </a:solidFill>
                <a:effectLst/>
                <a:latin typeface="Consolas" panose="020B0609020204030204" pitchFamily="49" charset="0"/>
              </a:rPr>
              <a:t>#result=product.append(product2,ignore_index=True)</a:t>
            </a:r>
            <a:endParaRPr lang="en-IN" sz="4300" b="0" dirty="0">
              <a:solidFill>
                <a:srgbClr val="000000"/>
              </a:solidFill>
              <a:effectLst/>
              <a:latin typeface="Consolas" panose="020B0609020204030204" pitchFamily="49" charset="0"/>
            </a:endParaRPr>
          </a:p>
          <a:p>
            <a:pPr marL="0" indent="0">
              <a:buNone/>
            </a:pPr>
            <a:r>
              <a:rPr lang="en-IN" sz="4300" b="0" dirty="0">
                <a:solidFill>
                  <a:srgbClr val="001080"/>
                </a:solidFill>
                <a:effectLst/>
                <a:latin typeface="Consolas" panose="020B0609020204030204" pitchFamily="49" charset="0"/>
              </a:rPr>
              <a:t>result</a:t>
            </a:r>
            <a:r>
              <a:rPr lang="en-IN" sz="4300" b="0" dirty="0">
                <a:solidFill>
                  <a:srgbClr val="000000"/>
                </a:solidFill>
                <a:effectLst/>
                <a:latin typeface="Consolas" panose="020B0609020204030204" pitchFamily="49" charset="0"/>
              </a:rPr>
              <a:t>=</a:t>
            </a:r>
            <a:r>
              <a:rPr lang="en-IN" sz="4300" b="0" dirty="0" err="1">
                <a:solidFill>
                  <a:srgbClr val="267F99"/>
                </a:solidFill>
                <a:effectLst/>
                <a:latin typeface="Consolas" panose="020B0609020204030204" pitchFamily="49" charset="0"/>
              </a:rPr>
              <a:t>pd</a:t>
            </a:r>
            <a:r>
              <a:rPr lang="en-IN" sz="4300" b="0" dirty="0" err="1">
                <a:solidFill>
                  <a:srgbClr val="000000"/>
                </a:solidFill>
                <a:effectLst/>
                <a:latin typeface="Consolas" panose="020B0609020204030204" pitchFamily="49" charset="0"/>
              </a:rPr>
              <a:t>.</a:t>
            </a:r>
            <a:r>
              <a:rPr lang="en-IN" sz="4300" b="0" dirty="0" err="1">
                <a:solidFill>
                  <a:srgbClr val="795E26"/>
                </a:solidFill>
                <a:effectLst/>
                <a:latin typeface="Consolas" panose="020B0609020204030204" pitchFamily="49" charset="0"/>
              </a:rPr>
              <a:t>concat</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product</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product2</a:t>
            </a:r>
            <a:r>
              <a:rPr lang="en-IN" sz="4300" b="0" dirty="0">
                <a:solidFill>
                  <a:srgbClr val="000000"/>
                </a:solidFill>
                <a:effectLst/>
                <a:latin typeface="Consolas" panose="020B0609020204030204" pitchFamily="49" charset="0"/>
              </a:rPr>
              <a:t>],</a:t>
            </a:r>
            <a:r>
              <a:rPr lang="en-IN" sz="4300" b="0" dirty="0" err="1">
                <a:solidFill>
                  <a:srgbClr val="001080"/>
                </a:solidFill>
                <a:effectLst/>
                <a:latin typeface="Consolas" panose="020B0609020204030204" pitchFamily="49" charset="0"/>
              </a:rPr>
              <a:t>ignore_index</a:t>
            </a:r>
            <a:r>
              <a:rPr lang="en-IN" sz="4300" b="0" dirty="0">
                <a:solidFill>
                  <a:srgbClr val="000000"/>
                </a:solidFill>
                <a:effectLst/>
                <a:latin typeface="Consolas" panose="020B0609020204030204" pitchFamily="49" charset="0"/>
              </a:rPr>
              <a:t>=</a:t>
            </a:r>
            <a:r>
              <a:rPr lang="en-IN" sz="4300" b="0" dirty="0">
                <a:solidFill>
                  <a:srgbClr val="0000FF"/>
                </a:solidFill>
                <a:effectLst/>
                <a:latin typeface="Consolas" panose="020B0609020204030204" pitchFamily="49" charset="0"/>
              </a:rPr>
              <a:t>True</a:t>
            </a:r>
            <a:r>
              <a:rPr lang="en-IN" sz="4300" b="0" dirty="0">
                <a:solidFill>
                  <a:srgbClr val="000000"/>
                </a:solidFill>
                <a:effectLst/>
                <a:latin typeface="Consolas" panose="020B0609020204030204" pitchFamily="49" charset="0"/>
              </a:rPr>
              <a:t>)</a:t>
            </a:r>
          </a:p>
          <a:p>
            <a:pPr marL="0" indent="0">
              <a:buNone/>
            </a:pPr>
            <a:r>
              <a:rPr lang="en-IN" sz="4300" b="0" dirty="0">
                <a:solidFill>
                  <a:srgbClr val="795E26"/>
                </a:solidFill>
                <a:effectLst/>
                <a:latin typeface="Consolas" panose="020B0609020204030204" pitchFamily="49" charset="0"/>
              </a:rPr>
              <a:t>print</a:t>
            </a:r>
            <a:r>
              <a:rPr lang="en-IN" sz="4300" b="0" dirty="0">
                <a:solidFill>
                  <a:srgbClr val="000000"/>
                </a:solidFill>
                <a:effectLst/>
                <a:latin typeface="Consolas" panose="020B0609020204030204" pitchFamily="49" charset="0"/>
              </a:rPr>
              <a:t>(</a:t>
            </a:r>
            <a:r>
              <a:rPr lang="en-IN" sz="4300" b="0" dirty="0">
                <a:solidFill>
                  <a:srgbClr val="001080"/>
                </a:solidFill>
                <a:effectLst/>
                <a:latin typeface="Consolas" panose="020B0609020204030204" pitchFamily="49" charset="0"/>
              </a:rPr>
              <a:t>result</a:t>
            </a:r>
            <a:r>
              <a:rPr lang="en-IN" sz="4300" b="0" dirty="0">
                <a:solidFill>
                  <a:srgbClr val="000000"/>
                </a:solidFill>
                <a:effectLst/>
                <a:latin typeface="Consolas" panose="020B0609020204030204" pitchFamily="49" charset="0"/>
              </a:rPr>
              <a:t>)</a:t>
            </a:r>
          </a:p>
          <a:p>
            <a:pPr marL="0" indent="0">
              <a:buNone/>
            </a:pPr>
            <a:br>
              <a:rPr lang="en-IN" sz="4300" b="0" dirty="0">
                <a:solidFill>
                  <a:srgbClr val="000000"/>
                </a:solidFill>
                <a:effectLst/>
                <a:latin typeface="Consolas" panose="020B0609020204030204" pitchFamily="49" charset="0"/>
              </a:rPr>
            </a:br>
            <a:endParaRPr lang="en-IN" sz="4300" b="0" dirty="0">
              <a:solidFill>
                <a:srgbClr val="000000"/>
              </a:solidFill>
              <a:effectLst/>
              <a:latin typeface="Consolas" panose="020B0609020204030204" pitchFamily="49" charset="0"/>
            </a:endParaRPr>
          </a:p>
          <a:p>
            <a:pPr marL="0" indent="0">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Joins</a:t>
            </a:r>
          </a:p>
        </p:txBody>
      </p:sp>
      <p:sp>
        <p:nvSpPr>
          <p:cNvPr id="3" name="Content Placeholder 2"/>
          <p:cNvSpPr>
            <a:spLocks noGrp="1"/>
          </p:cNvSpPr>
          <p:nvPr>
            <p:ph idx="1"/>
          </p:nvPr>
        </p:nvSpPr>
        <p:spPr/>
        <p:txBody>
          <a:bodyPr/>
          <a:lstStyle/>
          <a:p>
            <a:pPr marL="0" indent="0">
              <a:buNone/>
            </a:pPr>
            <a:r>
              <a:rPr lang="en-IN" b="0" dirty="0">
                <a:solidFill>
                  <a:srgbClr val="008000"/>
                </a:solidFill>
                <a:effectLst/>
                <a:latin typeface="Consolas" panose="020B0609020204030204" pitchFamily="49" charset="0"/>
              </a:rPr>
              <a:t>#result=product.join(product2,lsuffix="-P1",rsuffix="-P2")</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#print(result)</a:t>
            </a:r>
            <a:endParaRPr lang="en-IN" b="0" dirty="0">
              <a:solidFill>
                <a:srgbClr val="000000"/>
              </a:solidFill>
              <a:effectLst/>
              <a:latin typeface="Consolas" panose="020B0609020204030204" pitchFamily="49" charset="0"/>
            </a:endParaRPr>
          </a:p>
          <a:p>
            <a:pPr marL="0" indent="0">
              <a:buNone/>
            </a:pPr>
            <a:r>
              <a:rPr lang="en-IN" b="0" dirty="0">
                <a:solidFill>
                  <a:srgbClr val="0070C1"/>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product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set_index</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p>
          <a:p>
            <a:pPr marL="0" indent="0">
              <a:buNone/>
            </a:pPr>
            <a:r>
              <a:rPr lang="en-IN" b="0" dirty="0">
                <a:solidFill>
                  <a:srgbClr val="0070C1"/>
                </a:solidFill>
                <a:effectLst/>
                <a:latin typeface="Consolas" panose="020B0609020204030204" pitchFamily="49" charset="0"/>
              </a:rPr>
              <a:t>B</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product2</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set_index</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join</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B</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'productid'</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lsuffix</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"-P1"</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rsuffix</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"-P2"</a:t>
            </a:r>
            <a:r>
              <a:rPr lang="en-IN" b="0" dirty="0">
                <a:solidFill>
                  <a:srgbClr val="000000"/>
                </a:solidFill>
                <a:effectLst/>
                <a:latin typeface="Consolas" panose="020B0609020204030204" pitchFamily="49" charset="0"/>
              </a:rPr>
              <a:t>)</a:t>
            </a:r>
          </a:p>
          <a:p>
            <a:pPr marL="0" indent="0">
              <a:buNone/>
            </a:pPr>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p>
          <a:p>
            <a:pPr marL="0" indent="0">
              <a:buNone/>
            </a:pP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400" b="1" dirty="0"/>
              <a:t>Example</a:t>
            </a:r>
            <a:endParaRPr lang="en-IN" sz="1400" b="1" dirty="0"/>
          </a:p>
        </p:txBody>
      </p:sp>
      <p:sp>
        <p:nvSpPr>
          <p:cNvPr id="3" name="Content Placeholder 2"/>
          <p:cNvSpPr>
            <a:spLocks noGrp="1"/>
          </p:cNvSpPr>
          <p:nvPr>
            <p:ph idx="1"/>
          </p:nvPr>
        </p:nvSpPr>
        <p:spPr>
          <a:xfrm>
            <a:off x="838200" y="1183341"/>
            <a:ext cx="10515600" cy="4993622"/>
          </a:xfrm>
        </p:spPr>
        <p:txBody>
          <a:bodyPr>
            <a:noAutofit/>
          </a:bodyPr>
          <a:lstStyle/>
          <a:p>
            <a:pPr marL="0" indent="0">
              <a:buNone/>
            </a:pPr>
            <a:r>
              <a:rPr lang="en-IN" sz="1400" b="1" dirty="0">
                <a:effectLst/>
                <a:latin typeface="Consolas" panose="020B0609020204030204" pitchFamily="49" charset="0"/>
              </a:rPr>
              <a:t>merg_1=</a:t>
            </a:r>
            <a:r>
              <a:rPr lang="en-IN" sz="1400" b="1" dirty="0" err="1">
                <a:effectLst/>
                <a:latin typeface="Consolas" panose="020B0609020204030204" pitchFamily="49" charset="0"/>
              </a:rPr>
              <a:t>pd.merge</a:t>
            </a:r>
            <a:r>
              <a:rPr lang="en-IN" sz="1400" b="1" dirty="0">
                <a:effectLst/>
                <a:latin typeface="Consolas" panose="020B0609020204030204" pitchFamily="49" charset="0"/>
              </a:rPr>
              <a:t>(Data1,Data2)</a:t>
            </a:r>
          </a:p>
          <a:p>
            <a:pPr marL="0" indent="0">
              <a:buNone/>
            </a:pPr>
            <a:r>
              <a:rPr lang="en-IN" sz="1400" b="1" dirty="0">
                <a:effectLst/>
                <a:latin typeface="Consolas" panose="020B0609020204030204" pitchFamily="49" charset="0"/>
              </a:rPr>
              <a:t>print('</a:t>
            </a:r>
            <a:r>
              <a:rPr lang="en-IN" sz="1400" b="1" dirty="0" err="1">
                <a:effectLst/>
                <a:latin typeface="Consolas" panose="020B0609020204030204" pitchFamily="49" charset="0"/>
              </a:rPr>
              <a:t>zzzzz</a:t>
            </a:r>
            <a:r>
              <a:rPr lang="en-IN" sz="1400" b="1" dirty="0">
                <a:effectLst/>
                <a:latin typeface="Consolas" panose="020B0609020204030204" pitchFamily="49" charset="0"/>
              </a:rPr>
              <a:t>')</a:t>
            </a:r>
          </a:p>
          <a:p>
            <a:pPr marL="0" indent="0">
              <a:buNone/>
            </a:pPr>
            <a:r>
              <a:rPr lang="en-IN" sz="1400" b="1" dirty="0">
                <a:effectLst/>
                <a:latin typeface="Consolas" panose="020B0609020204030204" pitchFamily="49" charset="0"/>
              </a:rPr>
              <a:t>print(merg_1)</a:t>
            </a:r>
          </a:p>
          <a:p>
            <a:pPr marL="0" indent="0">
              <a:buNone/>
            </a:pPr>
            <a:br>
              <a:rPr lang="en-IN" sz="1400" b="1" dirty="0">
                <a:effectLst/>
                <a:latin typeface="Consolas" panose="020B0609020204030204" pitchFamily="49" charset="0"/>
              </a:rPr>
            </a:br>
            <a:r>
              <a:rPr lang="en-IN" sz="1400" b="1" dirty="0">
                <a:effectLst/>
                <a:latin typeface="Consolas" panose="020B0609020204030204" pitchFamily="49" charset="0"/>
              </a:rPr>
              <a:t>merg_2=</a:t>
            </a:r>
            <a:r>
              <a:rPr lang="en-IN" sz="1400" b="1" dirty="0" err="1">
                <a:effectLst/>
                <a:latin typeface="Consolas" panose="020B0609020204030204" pitchFamily="49" charset="0"/>
              </a:rPr>
              <a:t>pd.merge</a:t>
            </a:r>
            <a:r>
              <a:rPr lang="en-IN" sz="1400" b="1" dirty="0">
                <a:effectLst/>
                <a:latin typeface="Consolas" panose="020B0609020204030204" pitchFamily="49" charset="0"/>
              </a:rPr>
              <a:t>(Data1,Data3,on='subject_id')</a:t>
            </a:r>
          </a:p>
          <a:p>
            <a:pPr marL="0" indent="0">
              <a:buNone/>
            </a:pPr>
            <a:r>
              <a:rPr lang="en-IN" sz="1400" b="1" dirty="0">
                <a:effectLst/>
                <a:latin typeface="Consolas" panose="020B0609020204030204" pitchFamily="49" charset="0"/>
              </a:rPr>
              <a:t>print('</a:t>
            </a:r>
            <a:r>
              <a:rPr lang="en-IN" sz="1400" b="1" dirty="0" err="1">
                <a:effectLst/>
                <a:latin typeface="Consolas" panose="020B0609020204030204" pitchFamily="49" charset="0"/>
              </a:rPr>
              <a:t>yyyyy</a:t>
            </a:r>
            <a:r>
              <a:rPr lang="en-IN" sz="1400" b="1" dirty="0">
                <a:effectLst/>
                <a:latin typeface="Consolas" panose="020B0609020204030204" pitchFamily="49" charset="0"/>
              </a:rPr>
              <a:t>')</a:t>
            </a:r>
          </a:p>
          <a:p>
            <a:pPr marL="0" indent="0">
              <a:buNone/>
            </a:pPr>
            <a:r>
              <a:rPr lang="en-IN" sz="1400" b="1" dirty="0">
                <a:effectLst/>
                <a:latin typeface="Consolas" panose="020B0609020204030204" pitchFamily="49" charset="0"/>
              </a:rPr>
              <a:t>print(merg_2)</a:t>
            </a:r>
          </a:p>
          <a:p>
            <a:pPr marL="0" indent="0">
              <a:buNone/>
            </a:pPr>
            <a:br>
              <a:rPr lang="en-IN" sz="1400" b="1" dirty="0">
                <a:effectLst/>
                <a:latin typeface="Consolas" panose="020B0609020204030204" pitchFamily="49" charset="0"/>
              </a:rPr>
            </a:br>
            <a:r>
              <a:rPr lang="en-IN" sz="1400" b="1" dirty="0">
                <a:effectLst/>
                <a:latin typeface="Consolas" panose="020B0609020204030204" pitchFamily="49" charset="0"/>
              </a:rPr>
              <a:t>merg_4=</a:t>
            </a:r>
            <a:r>
              <a:rPr lang="en-IN" sz="1400" b="1" dirty="0" err="1">
                <a:effectLst/>
                <a:latin typeface="Consolas" panose="020B0609020204030204" pitchFamily="49" charset="0"/>
              </a:rPr>
              <a:t>pd.merge</a:t>
            </a:r>
            <a:r>
              <a:rPr lang="en-IN" sz="1400" b="1" dirty="0">
                <a:effectLst/>
                <a:latin typeface="Consolas" panose="020B0609020204030204" pitchFamily="49" charset="0"/>
              </a:rPr>
              <a:t>(Data3,Data2[['</a:t>
            </a:r>
            <a:r>
              <a:rPr lang="en-IN" sz="1400" b="1" dirty="0" err="1">
                <a:effectLst/>
                <a:latin typeface="Consolas" panose="020B0609020204030204" pitchFamily="49" charset="0"/>
              </a:rPr>
              <a:t>first_name</a:t>
            </a:r>
            <a:r>
              <a:rPr lang="en-IN" sz="1400" b="1" dirty="0">
                <a:effectLst/>
                <a:latin typeface="Consolas" panose="020B0609020204030204" pitchFamily="49" charset="0"/>
              </a:rPr>
              <a:t>']],how='</a:t>
            </a:r>
            <a:r>
              <a:rPr lang="en-IN" sz="1400" b="1" dirty="0" err="1">
                <a:effectLst/>
                <a:latin typeface="Consolas" panose="020B0609020204030204" pitchFamily="49" charset="0"/>
              </a:rPr>
              <a:t>left',indicator</a:t>
            </a:r>
            <a:r>
              <a:rPr lang="en-IN" sz="1400" b="1" dirty="0">
                <a:effectLst/>
                <a:latin typeface="Consolas" panose="020B0609020204030204" pitchFamily="49" charset="0"/>
              </a:rPr>
              <a:t>=</a:t>
            </a:r>
            <a:r>
              <a:rPr lang="en-IN" sz="1400" b="1" dirty="0" err="1">
                <a:effectLst/>
                <a:latin typeface="Consolas" panose="020B0609020204030204" pitchFamily="49" charset="0"/>
              </a:rPr>
              <a:t>True,right_on</a:t>
            </a:r>
            <a:r>
              <a:rPr lang="en-IN" sz="1400" b="1" dirty="0">
                <a:effectLst/>
                <a:latin typeface="Consolas" panose="020B0609020204030204" pitchFamily="49" charset="0"/>
              </a:rPr>
              <a:t>=None, </a:t>
            </a:r>
            <a:r>
              <a:rPr lang="en-IN" sz="1400" b="1" dirty="0" err="1">
                <a:effectLst/>
                <a:latin typeface="Consolas" panose="020B0609020204030204" pitchFamily="49" charset="0"/>
              </a:rPr>
              <a:t>left_index</a:t>
            </a:r>
            <a:r>
              <a:rPr lang="en-IN" sz="1400" b="1" dirty="0">
                <a:effectLst/>
                <a:latin typeface="Consolas" panose="020B0609020204030204" pitchFamily="49" charset="0"/>
              </a:rPr>
              <a:t>=True, </a:t>
            </a:r>
            <a:r>
              <a:rPr lang="en-IN" sz="1400" b="1" dirty="0" err="1">
                <a:effectLst/>
                <a:latin typeface="Consolas" panose="020B0609020204030204" pitchFamily="49" charset="0"/>
              </a:rPr>
              <a:t>right_index</a:t>
            </a:r>
            <a:r>
              <a:rPr lang="en-IN" sz="1400" b="1" dirty="0">
                <a:effectLst/>
                <a:latin typeface="Consolas" panose="020B0609020204030204" pitchFamily="49" charset="0"/>
              </a:rPr>
              <a:t>=True)</a:t>
            </a:r>
          </a:p>
          <a:p>
            <a:pPr marL="0" indent="0">
              <a:buNone/>
            </a:pPr>
            <a:r>
              <a:rPr lang="en-IN" sz="1400" b="1" dirty="0">
                <a:effectLst/>
                <a:latin typeface="Consolas" panose="020B0609020204030204" pitchFamily="49" charset="0"/>
              </a:rPr>
              <a:t>print(merg_4)</a:t>
            </a:r>
          </a:p>
          <a:p>
            <a:pPr marL="0" indent="0">
              <a:buNone/>
            </a:pPr>
            <a:br>
              <a:rPr lang="en-IN" sz="1400" b="1" dirty="0">
                <a:effectLst/>
                <a:latin typeface="Consolas" panose="020B0609020204030204" pitchFamily="49" charset="0"/>
              </a:rPr>
            </a:br>
            <a:r>
              <a:rPr lang="en-IN" sz="1400" b="1" dirty="0" err="1">
                <a:effectLst/>
                <a:latin typeface="Consolas" panose="020B0609020204030204" pitchFamily="49" charset="0"/>
              </a:rPr>
              <a:t>jn</a:t>
            </a:r>
            <a:r>
              <a:rPr lang="en-IN" sz="1400" b="1" dirty="0">
                <a:effectLst/>
                <a:latin typeface="Consolas" panose="020B0609020204030204" pitchFamily="49" charset="0"/>
              </a:rPr>
              <a:t>=Data1.join(Data2,lsuffix='caller',</a:t>
            </a:r>
            <a:r>
              <a:rPr lang="en-IN" sz="1400" b="1" dirty="0" err="1">
                <a:effectLst/>
                <a:latin typeface="Consolas" panose="020B0609020204030204" pitchFamily="49" charset="0"/>
              </a:rPr>
              <a:t>rsuffix</a:t>
            </a:r>
            <a:r>
              <a:rPr lang="en-IN" sz="1400" b="1" dirty="0">
                <a:effectLst/>
                <a:latin typeface="Consolas" panose="020B0609020204030204" pitchFamily="49" charset="0"/>
              </a:rPr>
              <a:t>='other')</a:t>
            </a:r>
          </a:p>
          <a:p>
            <a:pPr marL="0" indent="0">
              <a:buNone/>
            </a:pPr>
            <a:r>
              <a:rPr lang="en-IN" sz="1400" b="1" dirty="0">
                <a:effectLst/>
                <a:latin typeface="Consolas" panose="020B0609020204030204" pitchFamily="49" charset="0"/>
              </a:rPr>
              <a:t>print(</a:t>
            </a:r>
            <a:r>
              <a:rPr lang="en-IN" sz="1400" b="1" dirty="0" err="1">
                <a:effectLst/>
                <a:latin typeface="Consolas" panose="020B0609020204030204" pitchFamily="49" charset="0"/>
              </a:rPr>
              <a:t>jn</a:t>
            </a:r>
            <a:r>
              <a:rPr lang="en-IN" sz="1400" b="1" dirty="0">
                <a:effectLst/>
                <a:latin typeface="Consolas" panose="020B0609020204030204" pitchFamily="49" charset="0"/>
              </a:rPr>
              <a:t>)</a:t>
            </a:r>
          </a:p>
          <a:p>
            <a:pPr marL="0" indent="0">
              <a:buNone/>
            </a:pPr>
            <a:br>
              <a:rPr lang="en-IN" sz="1400" b="1" dirty="0">
                <a:effectLst/>
                <a:latin typeface="Consolas" panose="020B0609020204030204" pitchFamily="49" charset="0"/>
              </a:rPr>
            </a:br>
            <a:r>
              <a:rPr lang="en-IN" sz="1400" b="1" dirty="0">
                <a:effectLst/>
                <a:latin typeface="Consolas" panose="020B0609020204030204" pitchFamily="49" charset="0"/>
              </a:rPr>
              <a:t>D1=Data1.set_index('subject_id')</a:t>
            </a:r>
          </a:p>
          <a:p>
            <a:pPr marL="0" indent="0">
              <a:buNone/>
            </a:pPr>
            <a:endParaRPr lang="en-IN" sz="1100" b="0" dirty="0">
              <a:solidFill>
                <a:srgbClr val="000000"/>
              </a:solidFill>
              <a:effectLst/>
              <a:latin typeface="Consolas" panose="020B0609020204030204" pitchFamily="49" charset="0"/>
            </a:endParaRPr>
          </a:p>
          <a:p>
            <a:endParaRPr lang="en-IN" sz="1100" b="0" dirty="0">
              <a:solidFill>
                <a:srgbClr val="A31515"/>
              </a:solidFill>
              <a:effectLst/>
              <a:latin typeface="Consolas" panose="020B0609020204030204" pitchFamily="49" charset="0"/>
            </a:endParaRPr>
          </a:p>
          <a:p>
            <a:endParaRPr lang="en-IN" sz="1100" b="0" dirty="0">
              <a:solidFill>
                <a:srgbClr val="000000"/>
              </a:solidFill>
              <a:effectLst/>
              <a:latin typeface="Consolas" panose="020B0609020204030204" pitchFamily="49" charset="0"/>
            </a:endParaRPr>
          </a:p>
          <a:p>
            <a:pPr marL="0" indent="0">
              <a:buNone/>
            </a:pPr>
            <a:endParaRPr lang="en-IN"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marL="0" indent="0">
              <a:buNone/>
            </a:pPr>
            <a:br>
              <a:rPr lang="en-IN" sz="2800" b="0" dirty="0">
                <a:solidFill>
                  <a:srgbClr val="000000"/>
                </a:solidFill>
                <a:effectLst/>
                <a:latin typeface="Consolas" panose="020B0609020204030204" pitchFamily="49" charset="0"/>
              </a:rPr>
            </a:br>
            <a:r>
              <a:rPr lang="en-IN" sz="2800" b="0" dirty="0">
                <a:solidFill>
                  <a:srgbClr val="A31515"/>
                </a:solidFill>
                <a:effectLst/>
                <a:latin typeface="Consolas" panose="020B0609020204030204" pitchFamily="49" charset="0"/>
              </a:rPr>
              <a:t>join_2= D1.join(Data2.set_index('subject_id'),how="inner", on='subject_id',</a:t>
            </a:r>
            <a:r>
              <a:rPr lang="en-IN" sz="2800" b="0" dirty="0" err="1">
                <a:solidFill>
                  <a:srgbClr val="A31515"/>
                </a:solidFill>
                <a:effectLst/>
                <a:latin typeface="Consolas" panose="020B0609020204030204" pitchFamily="49" charset="0"/>
              </a:rPr>
              <a:t>lsuffix</a:t>
            </a:r>
            <a:r>
              <a:rPr lang="en-IN" sz="2800" b="0" dirty="0">
                <a:solidFill>
                  <a:srgbClr val="A31515"/>
                </a:solidFill>
                <a:effectLst/>
                <a:latin typeface="Consolas" panose="020B0609020204030204" pitchFamily="49" charset="0"/>
              </a:rPr>
              <a:t>='caller',</a:t>
            </a:r>
            <a:r>
              <a:rPr lang="en-IN" sz="2800" b="0" dirty="0" err="1">
                <a:solidFill>
                  <a:srgbClr val="A31515"/>
                </a:solidFill>
                <a:effectLst/>
                <a:latin typeface="Consolas" panose="020B0609020204030204" pitchFamily="49" charset="0"/>
              </a:rPr>
              <a:t>rsuffix</a:t>
            </a:r>
            <a:r>
              <a:rPr lang="en-IN" sz="2800" b="0" dirty="0">
                <a:solidFill>
                  <a:srgbClr val="A31515"/>
                </a:solidFill>
                <a:effectLst/>
                <a:latin typeface="Consolas" panose="020B0609020204030204" pitchFamily="49" charset="0"/>
              </a:rPr>
              <a:t>='other')</a:t>
            </a:r>
            <a:endParaRPr lang="en-IN" sz="2800" b="0" dirty="0">
              <a:solidFill>
                <a:srgbClr val="000000"/>
              </a:solidFill>
              <a:effectLst/>
              <a:latin typeface="Consolas" panose="020B0609020204030204" pitchFamily="49" charset="0"/>
            </a:endParaRPr>
          </a:p>
          <a:p>
            <a:pPr marL="0" indent="0">
              <a:buNone/>
            </a:pPr>
            <a:r>
              <a:rPr lang="en-IN" sz="2800" b="0" dirty="0">
                <a:solidFill>
                  <a:srgbClr val="A31515"/>
                </a:solidFill>
                <a:effectLst/>
                <a:latin typeface="Consolas" panose="020B0609020204030204" pitchFamily="49" charset="0"/>
              </a:rPr>
              <a:t>print(join_2)</a:t>
            </a:r>
            <a:endParaRPr lang="en-IN" sz="2800" b="0" dirty="0">
              <a:solidFill>
                <a:srgbClr val="000000"/>
              </a:solidFill>
              <a:effectLst/>
              <a:latin typeface="Consolas" panose="020B0609020204030204" pitchFamily="49" charset="0"/>
            </a:endParaRPr>
          </a:p>
          <a:p>
            <a:pPr marL="0" indent="0">
              <a:buNone/>
            </a:pPr>
            <a:br>
              <a:rPr lang="en-IN" sz="2800" b="0" dirty="0">
                <a:solidFill>
                  <a:srgbClr val="000000"/>
                </a:solidFill>
                <a:effectLst/>
                <a:latin typeface="Consolas" panose="020B0609020204030204" pitchFamily="49" charset="0"/>
              </a:rPr>
            </a:br>
            <a:r>
              <a:rPr lang="en-IN" sz="2800" b="0" dirty="0">
                <a:solidFill>
                  <a:srgbClr val="A31515"/>
                </a:solidFill>
                <a:effectLst/>
                <a:latin typeface="Consolas" panose="020B0609020204030204" pitchFamily="49" charset="0"/>
              </a:rPr>
              <a:t>D=Data1.append(Data2)</a:t>
            </a:r>
            <a:endParaRPr lang="en-IN" sz="2800" b="0" dirty="0">
              <a:solidFill>
                <a:srgbClr val="000000"/>
              </a:solidFill>
              <a:effectLst/>
              <a:latin typeface="Consolas" panose="020B0609020204030204" pitchFamily="49" charset="0"/>
            </a:endParaRPr>
          </a:p>
          <a:p>
            <a:pPr marL="0" indent="0">
              <a:buNone/>
            </a:pPr>
            <a:r>
              <a:rPr lang="en-IN" sz="2800" b="0" dirty="0">
                <a:solidFill>
                  <a:srgbClr val="A31515"/>
                </a:solidFill>
                <a:effectLst/>
                <a:latin typeface="Consolas" panose="020B0609020204030204" pitchFamily="49" charset="0"/>
              </a:rPr>
              <a:t>print(D)</a:t>
            </a:r>
          </a:p>
          <a:p>
            <a:pPr marL="0" indent="0">
              <a:buNone/>
            </a:pPr>
            <a:endParaRPr lang="en-IN" sz="2800" b="0" dirty="0">
              <a:solidFill>
                <a:srgbClr val="000000"/>
              </a:solidFill>
              <a:effectLst/>
              <a:latin typeface="Consolas" panose="020B0609020204030204" pitchFamily="49" charset="0"/>
            </a:endParaRPr>
          </a:p>
          <a:p>
            <a:pPr marL="0" indent="0">
              <a:buNone/>
            </a:pPr>
            <a:r>
              <a:rPr lang="en-IN" sz="2800" b="0" dirty="0">
                <a:solidFill>
                  <a:srgbClr val="A31515"/>
                </a:solidFill>
                <a:effectLst/>
                <a:latin typeface="Consolas" panose="020B0609020204030204" pitchFamily="49" charset="0"/>
              </a:rPr>
              <a:t>D=</a:t>
            </a:r>
            <a:r>
              <a:rPr lang="en-IN" sz="2800" b="0" dirty="0" err="1">
                <a:solidFill>
                  <a:srgbClr val="A31515"/>
                </a:solidFill>
                <a:effectLst/>
                <a:latin typeface="Consolas" panose="020B0609020204030204" pitchFamily="49" charset="0"/>
              </a:rPr>
              <a:t>pd.concat</a:t>
            </a:r>
            <a:r>
              <a:rPr lang="en-IN" sz="2800" b="0" dirty="0">
                <a:solidFill>
                  <a:srgbClr val="A31515"/>
                </a:solidFill>
                <a:effectLst/>
                <a:latin typeface="Consolas" panose="020B0609020204030204" pitchFamily="49" charset="0"/>
              </a:rPr>
              <a:t>([Data1,Data2])</a:t>
            </a:r>
            <a:endParaRPr lang="en-IN" sz="2800" b="0" dirty="0">
              <a:solidFill>
                <a:srgbClr val="000000"/>
              </a:solidFill>
              <a:effectLst/>
              <a:latin typeface="Consolas" panose="020B0609020204030204" pitchFamily="49" charset="0"/>
            </a:endParaRPr>
          </a:p>
          <a:p>
            <a:pPr marL="0" indent="0">
              <a:buNone/>
            </a:pPr>
            <a:r>
              <a:rPr lang="en-IN" sz="2800" b="0" dirty="0">
                <a:solidFill>
                  <a:srgbClr val="A31515"/>
                </a:solidFill>
                <a:effectLst/>
                <a:latin typeface="Consolas" panose="020B0609020204030204" pitchFamily="49" charset="0"/>
              </a:rPr>
              <a:t>print(D)</a:t>
            </a:r>
          </a:p>
          <a:p>
            <a:pPr marL="0" indent="0">
              <a:buNone/>
            </a:pPr>
            <a:endParaRPr lang="en-IN" sz="2800" b="0" dirty="0">
              <a:solidFill>
                <a:srgbClr val="0070C1"/>
              </a:solidFill>
              <a:effectLst/>
              <a:latin typeface="Consolas" panose="020B0609020204030204" pitchFamily="49" charset="0"/>
            </a:endParaRPr>
          </a:p>
          <a:p>
            <a:pPr marL="0" indent="0">
              <a:buNone/>
            </a:pPr>
            <a:r>
              <a:rPr lang="en-IN" sz="2800" b="0" dirty="0">
                <a:solidFill>
                  <a:srgbClr val="0070C1"/>
                </a:solidFill>
                <a:effectLst/>
                <a:latin typeface="Consolas" panose="020B0609020204030204" pitchFamily="49" charset="0"/>
              </a:rPr>
              <a:t>D</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Data1</a:t>
            </a:r>
            <a:r>
              <a:rPr lang="en-IN" sz="2800" b="0" dirty="0">
                <a:solidFill>
                  <a:srgbClr val="000000"/>
                </a:solidFill>
                <a:effectLst/>
                <a:latin typeface="Consolas" panose="020B0609020204030204" pitchFamily="49" charset="0"/>
              </a:rPr>
              <a:t>.append(</a:t>
            </a:r>
            <a:r>
              <a:rPr lang="en-IN" sz="2800" b="0" dirty="0">
                <a:solidFill>
                  <a:srgbClr val="001080"/>
                </a:solidFill>
                <a:effectLst/>
                <a:latin typeface="Consolas" panose="020B0609020204030204" pitchFamily="49" charset="0"/>
              </a:rPr>
              <a:t>Data2</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ignore_index</a:t>
            </a:r>
            <a:r>
              <a:rPr lang="en-IN" sz="2800" b="0" dirty="0">
                <a:solidFill>
                  <a:srgbClr val="000000"/>
                </a:solidFill>
                <a:effectLst/>
                <a:latin typeface="Consolas" panose="020B0609020204030204" pitchFamily="49" charset="0"/>
              </a:rPr>
              <a:t>=</a:t>
            </a:r>
            <a:r>
              <a:rPr lang="en-IN" sz="2800" b="0" dirty="0">
                <a:solidFill>
                  <a:srgbClr val="0000FF"/>
                </a:solidFill>
                <a:effectLst/>
                <a:latin typeface="Consolas" panose="020B0609020204030204" pitchFamily="49" charset="0"/>
              </a:rPr>
              <a:t>True</a:t>
            </a:r>
            <a:r>
              <a:rPr lang="en-IN" sz="2800" b="0" dirty="0">
                <a:solidFill>
                  <a:srgbClr val="000000"/>
                </a:solidFill>
                <a:effectLst/>
                <a:latin typeface="Consolas" panose="020B0609020204030204" pitchFamily="49" charset="0"/>
              </a:rPr>
              <a:t>)</a:t>
            </a:r>
          </a:p>
          <a:p>
            <a:pPr marL="0" indent="0">
              <a:buNone/>
            </a:pPr>
            <a:r>
              <a:rPr lang="en-IN" sz="2800" b="0" dirty="0">
                <a:solidFill>
                  <a:srgbClr val="795E26"/>
                </a:solidFill>
                <a:effectLst/>
                <a:latin typeface="Consolas" panose="020B0609020204030204" pitchFamily="49" charset="0"/>
              </a:rPr>
              <a:t>print</a:t>
            </a:r>
            <a:r>
              <a:rPr lang="en-IN" sz="2800" b="0" dirty="0">
                <a:solidFill>
                  <a:srgbClr val="000000"/>
                </a:solidFill>
                <a:effectLst/>
                <a:latin typeface="Consolas" panose="020B0609020204030204" pitchFamily="49" charset="0"/>
              </a:rPr>
              <a:t>(</a:t>
            </a:r>
            <a:r>
              <a:rPr lang="en-IN" sz="2800" b="0" dirty="0">
                <a:solidFill>
                  <a:srgbClr val="0070C1"/>
                </a:solidFill>
                <a:effectLst/>
                <a:latin typeface="Consolas" panose="020B0609020204030204" pitchFamily="49" charset="0"/>
              </a:rPr>
              <a:t>D</a:t>
            </a:r>
            <a:r>
              <a:rPr lang="en-IN" sz="2800" b="0" dirty="0">
                <a:solidFill>
                  <a:srgbClr val="000000"/>
                </a:solidFill>
                <a:effectLst/>
                <a:latin typeface="Consolas" panose="020B0609020204030204" pitchFamily="49" charset="0"/>
              </a:rPr>
              <a:t>)</a:t>
            </a:r>
          </a:p>
          <a:p>
            <a:pPr marL="0" indent="0">
              <a:buNone/>
            </a:pPr>
            <a:endParaRPr lang="en-US" sz="2800" b="0" dirty="0">
              <a:solidFill>
                <a:srgbClr val="001080"/>
              </a:solidFill>
              <a:effectLst/>
              <a:latin typeface="Consolas" panose="020B0609020204030204" pitchFamily="49" charset="0"/>
            </a:endParaRPr>
          </a:p>
          <a:p>
            <a:pPr marL="0" indent="0">
              <a:buNone/>
            </a:pPr>
            <a:r>
              <a:rPr lang="en-US" sz="2800" b="0" dirty="0">
                <a:solidFill>
                  <a:srgbClr val="001080"/>
                </a:solidFill>
                <a:effectLst/>
                <a:latin typeface="Consolas" panose="020B0609020204030204" pitchFamily="49" charset="0"/>
              </a:rPr>
              <a:t>res3</a:t>
            </a:r>
            <a:r>
              <a:rPr lang="en-US" sz="2800" b="0" dirty="0">
                <a:solidFill>
                  <a:srgbClr val="000000"/>
                </a:solidFill>
                <a:effectLst/>
                <a:latin typeface="Consolas" panose="020B0609020204030204" pitchFamily="49" charset="0"/>
              </a:rPr>
              <a:t> = </a:t>
            </a:r>
            <a:r>
              <a:rPr lang="en-US" sz="2800" b="0" dirty="0" err="1">
                <a:solidFill>
                  <a:srgbClr val="267F99"/>
                </a:solidFill>
                <a:effectLst/>
                <a:latin typeface="Consolas" panose="020B0609020204030204" pitchFamily="49" charset="0"/>
              </a:rPr>
              <a:t>pd</a:t>
            </a:r>
            <a:r>
              <a:rPr lang="en-US" sz="2800" b="0" dirty="0" err="1">
                <a:solidFill>
                  <a:srgbClr val="000000"/>
                </a:solidFill>
                <a:effectLst/>
                <a:latin typeface="Consolas" panose="020B0609020204030204" pitchFamily="49" charset="0"/>
              </a:rPr>
              <a:t>.</a:t>
            </a:r>
            <a:r>
              <a:rPr lang="en-US" sz="2800" b="0" dirty="0" err="1">
                <a:solidFill>
                  <a:srgbClr val="795E26"/>
                </a:solidFill>
                <a:effectLst/>
                <a:latin typeface="Consolas" panose="020B0609020204030204" pitchFamily="49" charset="0"/>
              </a:rPr>
              <a:t>merge</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Data1</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Data2</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how</a:t>
            </a:r>
            <a:r>
              <a:rPr lang="en-US" sz="2800" b="0" dirty="0">
                <a:solidFill>
                  <a:srgbClr val="000000"/>
                </a:solidFill>
                <a:effectLst/>
                <a:latin typeface="Consolas" panose="020B0609020204030204" pitchFamily="49" charset="0"/>
              </a:rPr>
              <a:t>=</a:t>
            </a:r>
            <a:r>
              <a:rPr lang="en-US" sz="2800" b="0" dirty="0">
                <a:solidFill>
                  <a:srgbClr val="A31515"/>
                </a:solidFill>
                <a:effectLst/>
                <a:latin typeface="Consolas" panose="020B0609020204030204" pitchFamily="49" charset="0"/>
              </a:rPr>
              <a:t>'inner'</a:t>
            </a:r>
            <a:r>
              <a:rPr lang="en-US" sz="2800" b="0" dirty="0">
                <a:solidFill>
                  <a:srgbClr val="000000"/>
                </a:solidFill>
                <a:effectLst/>
                <a:latin typeface="Consolas" panose="020B0609020204030204" pitchFamily="49" charset="0"/>
              </a:rPr>
              <a:t>, </a:t>
            </a:r>
            <a:r>
              <a:rPr lang="en-US" sz="2800" b="0" dirty="0">
                <a:solidFill>
                  <a:srgbClr val="001080"/>
                </a:solidFill>
                <a:effectLst/>
                <a:latin typeface="Consolas" panose="020B0609020204030204" pitchFamily="49" charset="0"/>
              </a:rPr>
              <a:t>on</a:t>
            </a:r>
            <a:r>
              <a:rPr lang="en-US" sz="2800" b="0" dirty="0">
                <a:solidFill>
                  <a:srgbClr val="000000"/>
                </a:solidFill>
                <a:effectLst/>
                <a:latin typeface="Consolas" panose="020B0609020204030204" pitchFamily="49" charset="0"/>
              </a:rPr>
              <a:t>=[</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first_name</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last_name</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a:t>
            </a:r>
          </a:p>
          <a:p>
            <a:pPr marL="0" indent="0">
              <a:buNone/>
            </a:pPr>
            <a:r>
              <a:rPr lang="en-US" sz="2800" b="0" dirty="0">
                <a:solidFill>
                  <a:srgbClr val="795E26"/>
                </a:solidFill>
                <a:effectLst/>
                <a:latin typeface="Consolas" panose="020B0609020204030204" pitchFamily="49" charset="0"/>
              </a:rPr>
              <a:t>print</a:t>
            </a:r>
            <a:r>
              <a:rPr lang="en-US" sz="2800" b="0" dirty="0">
                <a:solidFill>
                  <a:srgbClr val="000000"/>
                </a:solidFill>
                <a:effectLst/>
                <a:latin typeface="Consolas" panose="020B0609020204030204" pitchFamily="49" charset="0"/>
              </a:rPr>
              <a:t>(</a:t>
            </a:r>
            <a:r>
              <a:rPr lang="en-US" sz="2800" b="0" dirty="0">
                <a:solidFill>
                  <a:srgbClr val="001080"/>
                </a:solidFill>
                <a:effectLst/>
                <a:latin typeface="Consolas" panose="020B0609020204030204" pitchFamily="49" charset="0"/>
              </a:rPr>
              <a:t>res3</a:t>
            </a:r>
            <a:r>
              <a:rPr lang="en-US" sz="2800" b="0" dirty="0">
                <a:solidFill>
                  <a:srgbClr val="000000"/>
                </a:solidFill>
                <a:effectLst/>
                <a:latin typeface="Consolas" panose="020B0609020204030204" pitchFamily="49" charset="0"/>
              </a:rPr>
              <a:t>)</a:t>
            </a:r>
          </a:p>
          <a:p>
            <a:pPr marL="0" indent="0">
              <a:buNone/>
            </a:pP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Crosstab</a:t>
            </a:r>
            <a:endParaRPr lang="en-IN" dirty="0"/>
          </a:p>
        </p:txBody>
      </p:sp>
      <p:sp>
        <p:nvSpPr>
          <p:cNvPr id="3" name="Content Placeholder 2"/>
          <p:cNvSpPr>
            <a:spLocks noGrp="1"/>
          </p:cNvSpPr>
          <p:nvPr>
            <p:ph idx="1"/>
          </p:nvPr>
        </p:nvSpPr>
        <p:spPr>
          <a:xfrm>
            <a:off x="838200" y="1825625"/>
            <a:ext cx="9749118" cy="3284257"/>
          </a:xfrm>
        </p:spPr>
        <p:txBody>
          <a:bodyPr>
            <a:normAutofit fontScale="70000" lnSpcReduction="20000"/>
          </a:bodyPr>
          <a:lstStyle/>
          <a:p>
            <a:pPr marL="0" indent="0">
              <a:buNone/>
            </a:pPr>
            <a:r>
              <a:rPr lang="en-US" sz="3800" b="0" i="0" dirty="0">
                <a:solidFill>
                  <a:srgbClr val="242424"/>
                </a:solidFill>
                <a:effectLst/>
                <a:latin typeface="source-serif-pro"/>
              </a:rPr>
              <a:t>Cross tabulation (or crosstab) is an important tool for analyzing two categorical variables in a dataset. </a:t>
            </a:r>
            <a:r>
              <a:rPr lang="en-US" sz="3800" dirty="0"/>
              <a:t>It provides a tabular summary of the frequency distribution of two variables, allowing us to see the relationship between them and identify any patterns or trends.</a:t>
            </a:r>
          </a:p>
          <a:p>
            <a:pPr marL="0" indent="0">
              <a:buNone/>
            </a:pPr>
            <a:endParaRPr lang="en-US" sz="3800" dirty="0"/>
          </a:p>
          <a:p>
            <a:pPr marL="0" indent="0">
              <a:buNone/>
            </a:pPr>
            <a:endParaRPr lang="en-US" dirty="0"/>
          </a:p>
          <a:p>
            <a:pPr marL="0" indent="0">
              <a:buNone/>
            </a:pPr>
            <a:r>
              <a:rPr lang="en-US" b="1" dirty="0"/>
              <a:t>Syntax</a:t>
            </a:r>
          </a:p>
          <a:p>
            <a:pPr marL="0" indent="0">
              <a:buNone/>
            </a:pPr>
            <a:r>
              <a:rPr lang="en-IN" b="1" i="0" dirty="0" err="1">
                <a:solidFill>
                  <a:srgbClr val="0070C0"/>
                </a:solidFill>
                <a:effectLst/>
                <a:latin typeface="source-code-pro"/>
              </a:rPr>
              <a:t>pd.crosstab</a:t>
            </a:r>
            <a:r>
              <a:rPr lang="en-IN" b="1" i="0" dirty="0">
                <a:solidFill>
                  <a:srgbClr val="0070C0"/>
                </a:solidFill>
                <a:effectLst/>
                <a:latin typeface="source-code-pro"/>
              </a:rPr>
              <a:t>(index, columns, values=None, </a:t>
            </a:r>
            <a:r>
              <a:rPr lang="en-IN" b="1" i="0" dirty="0" err="1">
                <a:solidFill>
                  <a:srgbClr val="0070C0"/>
                </a:solidFill>
                <a:effectLst/>
                <a:latin typeface="source-code-pro"/>
              </a:rPr>
              <a:t>rownames</a:t>
            </a:r>
            <a:r>
              <a:rPr lang="en-IN" b="1" i="0" dirty="0">
                <a:solidFill>
                  <a:srgbClr val="0070C0"/>
                </a:solidFill>
                <a:effectLst/>
                <a:latin typeface="source-code-pro"/>
              </a:rPr>
              <a:t>=None, </a:t>
            </a:r>
            <a:r>
              <a:rPr lang="en-IN" b="1" i="0" dirty="0" err="1">
                <a:solidFill>
                  <a:srgbClr val="0070C0"/>
                </a:solidFill>
                <a:effectLst/>
                <a:latin typeface="source-code-pro"/>
              </a:rPr>
              <a:t>colnames</a:t>
            </a:r>
            <a:r>
              <a:rPr lang="en-IN" b="1" i="0" dirty="0">
                <a:solidFill>
                  <a:srgbClr val="0070C0"/>
                </a:solidFill>
                <a:effectLst/>
                <a:latin typeface="source-code-pro"/>
              </a:rPr>
              <a:t>=None, </a:t>
            </a:r>
            <a:r>
              <a:rPr lang="en-IN" b="1" i="0" dirty="0" err="1">
                <a:solidFill>
                  <a:srgbClr val="0070C0"/>
                </a:solidFill>
                <a:effectLst/>
                <a:latin typeface="source-code-pro"/>
              </a:rPr>
              <a:t>aggfunc</a:t>
            </a:r>
            <a:r>
              <a:rPr lang="en-IN" b="1" i="0" dirty="0">
                <a:solidFill>
                  <a:srgbClr val="0070C0"/>
                </a:solidFill>
                <a:effectLst/>
                <a:latin typeface="source-code-pro"/>
              </a:rPr>
              <a:t>=None, margins=False, </a:t>
            </a:r>
            <a:r>
              <a:rPr lang="en-IN" b="1" i="0" dirty="0" err="1">
                <a:solidFill>
                  <a:srgbClr val="0070C0"/>
                </a:solidFill>
                <a:effectLst/>
                <a:latin typeface="source-code-pro"/>
              </a:rPr>
              <a:t>margins_name</a:t>
            </a:r>
            <a:r>
              <a:rPr lang="en-IN" b="1" i="0" dirty="0">
                <a:solidFill>
                  <a:srgbClr val="0070C0"/>
                </a:solidFill>
                <a:effectLst/>
                <a:latin typeface="source-code-pro"/>
              </a:rPr>
              <a:t>='All', </a:t>
            </a:r>
            <a:r>
              <a:rPr lang="en-IN" b="1" i="0" dirty="0" err="1">
                <a:solidFill>
                  <a:srgbClr val="0070C0"/>
                </a:solidFill>
                <a:effectLst/>
                <a:latin typeface="source-code-pro"/>
              </a:rPr>
              <a:t>dropna</a:t>
            </a:r>
            <a:r>
              <a:rPr lang="en-IN" b="1" i="0" dirty="0">
                <a:solidFill>
                  <a:srgbClr val="0070C0"/>
                </a:solidFill>
                <a:effectLst/>
                <a:latin typeface="source-code-pro"/>
              </a:rPr>
              <a:t>=True, normalize=False)</a:t>
            </a:r>
            <a:endParaRPr lang="en-IN" b="1" dirty="0">
              <a:solidFill>
                <a:srgbClr val="0070C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42424"/>
                </a:solidFill>
                <a:effectLst/>
                <a:latin typeface="sohne"/>
              </a:rPr>
              <a:t>Creating a Simple Crosstab Table</a:t>
            </a:r>
            <a:br>
              <a:rPr lang="en-US" b="1" i="0" dirty="0">
                <a:solidFill>
                  <a:srgbClr val="242424"/>
                </a:solidFill>
                <a:effectLst/>
                <a:latin typeface="sohne"/>
              </a:rPr>
            </a:b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b="0" i="0" dirty="0">
                <a:solidFill>
                  <a:srgbClr val="AA0D91"/>
                </a:solidFill>
                <a:effectLst/>
                <a:latin typeface="source-code-pro"/>
              </a:rPr>
              <a:t>import</a:t>
            </a:r>
            <a:r>
              <a:rPr lang="en-IN" b="0" i="0" dirty="0">
                <a:solidFill>
                  <a:srgbClr val="242424"/>
                </a:solidFill>
                <a:effectLst/>
                <a:latin typeface="source-code-pro"/>
              </a:rPr>
              <a:t> pandas </a:t>
            </a:r>
            <a:r>
              <a:rPr lang="en-IN" b="0" i="0" dirty="0">
                <a:solidFill>
                  <a:srgbClr val="AA0D91"/>
                </a:solidFill>
                <a:effectLst/>
                <a:latin typeface="source-code-pro"/>
              </a:rPr>
              <a:t>as</a:t>
            </a:r>
            <a:r>
              <a:rPr lang="en-IN" b="0" i="0" dirty="0">
                <a:solidFill>
                  <a:srgbClr val="242424"/>
                </a:solidFill>
                <a:effectLst/>
                <a:latin typeface="source-code-pro"/>
              </a:rPr>
              <a:t> pd</a:t>
            </a:r>
            <a:br>
              <a:rPr lang="en-IN" dirty="0"/>
            </a:br>
            <a:br>
              <a:rPr lang="en-IN" dirty="0"/>
            </a:br>
            <a:r>
              <a:rPr lang="en-IN" b="0" i="0" dirty="0">
                <a:solidFill>
                  <a:srgbClr val="007400"/>
                </a:solidFill>
                <a:effectLst/>
                <a:latin typeface="source-code-pro"/>
              </a:rPr>
              <a:t># create a sample dataset</a:t>
            </a:r>
            <a:br>
              <a:rPr lang="en-IN" dirty="0"/>
            </a:br>
            <a:r>
              <a:rPr lang="en-IN" b="0" i="0" dirty="0" err="1">
                <a:solidFill>
                  <a:srgbClr val="242424"/>
                </a:solidFill>
                <a:effectLst/>
                <a:latin typeface="source-code-pro"/>
              </a:rPr>
              <a:t>df</a:t>
            </a:r>
            <a:r>
              <a:rPr lang="en-IN" b="0" i="0" dirty="0">
                <a:solidFill>
                  <a:srgbClr val="242424"/>
                </a:solidFill>
                <a:effectLst/>
                <a:latin typeface="source-code-pro"/>
              </a:rPr>
              <a:t> = </a:t>
            </a:r>
            <a:r>
              <a:rPr lang="en-IN" b="0" i="0" dirty="0" err="1">
                <a:solidFill>
                  <a:srgbClr val="242424"/>
                </a:solidFill>
                <a:effectLst/>
                <a:latin typeface="source-code-pro"/>
              </a:rPr>
              <a:t>pd.DataFrame</a:t>
            </a:r>
            <a:r>
              <a:rPr lang="en-IN" b="0" i="0" dirty="0">
                <a:solidFill>
                  <a:srgbClr val="242424"/>
                </a:solidFill>
                <a:effectLst/>
                <a:latin typeface="source-code-pro"/>
              </a:rPr>
              <a:t>({</a:t>
            </a:r>
            <a:br>
              <a:rPr lang="en-IN" dirty="0"/>
            </a:br>
            <a:r>
              <a:rPr lang="en-IN" b="0" i="0" dirty="0">
                <a:solidFill>
                  <a:srgbClr val="C41A16"/>
                </a:solidFill>
                <a:effectLst/>
                <a:latin typeface="source-code-pro"/>
              </a:rPr>
              <a:t>'gender'</a:t>
            </a:r>
            <a:r>
              <a:rPr lang="en-IN" b="0" i="0" dirty="0">
                <a:solidFill>
                  <a:srgbClr val="242424"/>
                </a:solidFill>
                <a:effectLst/>
                <a:latin typeface="source-code-pro"/>
              </a:rPr>
              <a:t>: [</a:t>
            </a:r>
            <a:r>
              <a:rPr lang="en-IN" b="0" i="0" dirty="0">
                <a:solidFill>
                  <a:srgbClr val="C41A16"/>
                </a:solidFill>
                <a:effectLst/>
                <a:latin typeface="source-code-pro"/>
              </a:rPr>
              <a:t>'male'</a:t>
            </a:r>
            <a:r>
              <a:rPr lang="en-IN" b="0" i="0" dirty="0">
                <a:solidFill>
                  <a:srgbClr val="242424"/>
                </a:solidFill>
                <a:effectLst/>
                <a:latin typeface="source-code-pro"/>
              </a:rPr>
              <a:t>, </a:t>
            </a:r>
            <a:r>
              <a:rPr lang="en-IN" b="0" i="0" dirty="0">
                <a:solidFill>
                  <a:srgbClr val="C41A16"/>
                </a:solidFill>
                <a:effectLst/>
                <a:latin typeface="source-code-pro"/>
              </a:rPr>
              <a:t>'male'</a:t>
            </a:r>
            <a:r>
              <a:rPr lang="en-IN" b="0" i="0" dirty="0">
                <a:solidFill>
                  <a:srgbClr val="242424"/>
                </a:solidFill>
                <a:effectLst/>
                <a:latin typeface="source-code-pro"/>
              </a:rPr>
              <a:t>, </a:t>
            </a:r>
            <a:r>
              <a:rPr lang="en-IN" b="0" i="0" dirty="0">
                <a:solidFill>
                  <a:srgbClr val="C41A16"/>
                </a:solidFill>
                <a:effectLst/>
                <a:latin typeface="source-code-pro"/>
              </a:rPr>
              <a:t>'female'</a:t>
            </a:r>
            <a:r>
              <a:rPr lang="en-IN" b="0" i="0" dirty="0">
                <a:solidFill>
                  <a:srgbClr val="242424"/>
                </a:solidFill>
                <a:effectLst/>
                <a:latin typeface="source-code-pro"/>
              </a:rPr>
              <a:t>, </a:t>
            </a:r>
            <a:r>
              <a:rPr lang="en-IN" b="0" i="0" dirty="0">
                <a:solidFill>
                  <a:srgbClr val="C41A16"/>
                </a:solidFill>
                <a:effectLst/>
                <a:latin typeface="source-code-pro"/>
              </a:rPr>
              <a:t>'female'</a:t>
            </a:r>
            <a:r>
              <a:rPr lang="en-IN" b="0" i="0" dirty="0">
                <a:solidFill>
                  <a:srgbClr val="242424"/>
                </a:solidFill>
                <a:effectLst/>
                <a:latin typeface="source-code-pro"/>
              </a:rPr>
              <a:t>, </a:t>
            </a:r>
            <a:r>
              <a:rPr lang="en-IN" b="0" i="0" dirty="0">
                <a:solidFill>
                  <a:srgbClr val="C41A16"/>
                </a:solidFill>
                <a:effectLst/>
                <a:latin typeface="source-code-pro"/>
              </a:rPr>
              <a:t>'male'</a:t>
            </a:r>
            <a:r>
              <a:rPr lang="en-IN" b="0" i="0" dirty="0">
                <a:solidFill>
                  <a:srgbClr val="242424"/>
                </a:solidFill>
                <a:effectLst/>
                <a:latin typeface="source-code-pro"/>
              </a:rPr>
              <a:t>, </a:t>
            </a:r>
            <a:r>
              <a:rPr lang="en-IN" b="0" i="0" dirty="0">
                <a:solidFill>
                  <a:srgbClr val="C41A16"/>
                </a:solidFill>
                <a:effectLst/>
                <a:latin typeface="source-code-pro"/>
              </a:rPr>
              <a:t>'female'</a:t>
            </a:r>
            <a:r>
              <a:rPr lang="en-IN" b="0" i="0" dirty="0">
                <a:solidFill>
                  <a:srgbClr val="242424"/>
                </a:solidFill>
                <a:effectLst/>
                <a:latin typeface="source-code-pro"/>
              </a:rPr>
              <a:t>, </a:t>
            </a:r>
            <a:r>
              <a:rPr lang="en-IN" b="0" i="0" dirty="0">
                <a:solidFill>
                  <a:srgbClr val="C41A16"/>
                </a:solidFill>
                <a:effectLst/>
                <a:latin typeface="source-code-pro"/>
              </a:rPr>
              <a:t>'male'</a:t>
            </a:r>
            <a:r>
              <a:rPr lang="en-IN" b="0" i="0" dirty="0">
                <a:solidFill>
                  <a:srgbClr val="242424"/>
                </a:solidFill>
                <a:effectLst/>
                <a:latin typeface="source-code-pro"/>
              </a:rPr>
              <a:t>, </a:t>
            </a:r>
            <a:r>
              <a:rPr lang="en-IN" b="0" i="0" dirty="0">
                <a:solidFill>
                  <a:srgbClr val="C41A16"/>
                </a:solidFill>
                <a:effectLst/>
                <a:latin typeface="source-code-pro"/>
              </a:rPr>
              <a:t>'female'</a:t>
            </a:r>
            <a:r>
              <a:rPr lang="en-IN" b="0" i="0" dirty="0">
                <a:solidFill>
                  <a:srgbClr val="242424"/>
                </a:solidFill>
                <a:effectLst/>
                <a:latin typeface="source-code-pro"/>
              </a:rPr>
              <a:t>],</a:t>
            </a:r>
            <a:br>
              <a:rPr lang="en-IN" dirty="0"/>
            </a:br>
            <a:r>
              <a:rPr lang="en-IN" b="0" i="0" dirty="0">
                <a:solidFill>
                  <a:srgbClr val="C41A16"/>
                </a:solidFill>
                <a:effectLst/>
                <a:latin typeface="source-code-pro"/>
              </a:rPr>
              <a:t>'</a:t>
            </a:r>
            <a:r>
              <a:rPr lang="en-IN" b="0" i="0" dirty="0" err="1">
                <a:solidFill>
                  <a:srgbClr val="C41A16"/>
                </a:solidFill>
                <a:effectLst/>
                <a:latin typeface="source-code-pro"/>
              </a:rPr>
              <a:t>education_level</a:t>
            </a:r>
            <a:r>
              <a:rPr lang="en-IN" b="0" i="0" dirty="0">
                <a:solidFill>
                  <a:srgbClr val="C41A16"/>
                </a:solidFill>
                <a:effectLst/>
                <a:latin typeface="source-code-pro"/>
              </a:rPr>
              <a:t>'</a:t>
            </a:r>
            <a:r>
              <a:rPr lang="en-IN" b="0" i="0" dirty="0">
                <a:solidFill>
                  <a:srgbClr val="242424"/>
                </a:solidFill>
                <a:effectLst/>
                <a:latin typeface="source-code-pro"/>
              </a:rPr>
              <a:t>: [</a:t>
            </a:r>
            <a:r>
              <a:rPr lang="en-IN" b="0" i="0" dirty="0">
                <a:solidFill>
                  <a:srgbClr val="C41A16"/>
                </a:solidFill>
                <a:effectLst/>
                <a:latin typeface="source-code-pro"/>
              </a:rPr>
              <a:t>'high school'</a:t>
            </a:r>
            <a:r>
              <a:rPr lang="en-IN" b="0" i="0" dirty="0">
                <a:solidFill>
                  <a:srgbClr val="242424"/>
                </a:solidFill>
                <a:effectLst/>
                <a:latin typeface="source-code-pro"/>
              </a:rPr>
              <a:t>, </a:t>
            </a:r>
            <a:r>
              <a:rPr lang="en-IN" b="0" i="0" dirty="0">
                <a:solidFill>
                  <a:srgbClr val="C41A16"/>
                </a:solidFill>
                <a:effectLst/>
                <a:latin typeface="source-code-pro"/>
              </a:rPr>
              <a:t>'college'</a:t>
            </a:r>
            <a:r>
              <a:rPr lang="en-IN" b="0" i="0" dirty="0">
                <a:solidFill>
                  <a:srgbClr val="242424"/>
                </a:solidFill>
                <a:effectLst/>
                <a:latin typeface="source-code-pro"/>
              </a:rPr>
              <a:t>, </a:t>
            </a:r>
            <a:r>
              <a:rPr lang="en-IN" b="0" i="0" dirty="0">
                <a:solidFill>
                  <a:srgbClr val="C41A16"/>
                </a:solidFill>
                <a:effectLst/>
                <a:latin typeface="source-code-pro"/>
              </a:rPr>
              <a:t>'college'</a:t>
            </a:r>
            <a:r>
              <a:rPr lang="en-IN" b="0" i="0" dirty="0">
                <a:solidFill>
                  <a:srgbClr val="242424"/>
                </a:solidFill>
                <a:effectLst/>
                <a:latin typeface="source-code-pro"/>
              </a:rPr>
              <a:t>, </a:t>
            </a:r>
            <a:r>
              <a:rPr lang="en-IN" b="0" i="0" dirty="0">
                <a:solidFill>
                  <a:srgbClr val="C41A16"/>
                </a:solidFill>
                <a:effectLst/>
                <a:latin typeface="source-code-pro"/>
              </a:rPr>
              <a:t>'graduate'</a:t>
            </a:r>
            <a:r>
              <a:rPr lang="en-IN" b="0" i="0" dirty="0">
                <a:solidFill>
                  <a:srgbClr val="242424"/>
                </a:solidFill>
                <a:effectLst/>
                <a:latin typeface="source-code-pro"/>
              </a:rPr>
              <a:t>, </a:t>
            </a:r>
            <a:r>
              <a:rPr lang="en-IN" b="0" i="0" dirty="0">
                <a:solidFill>
                  <a:srgbClr val="C41A16"/>
                </a:solidFill>
                <a:effectLst/>
                <a:latin typeface="source-code-pro"/>
              </a:rPr>
              <a:t>'high school'</a:t>
            </a:r>
            <a:r>
              <a:rPr lang="en-IN" b="0" i="0" dirty="0">
                <a:solidFill>
                  <a:srgbClr val="242424"/>
                </a:solidFill>
                <a:effectLst/>
                <a:latin typeface="source-code-pro"/>
              </a:rPr>
              <a:t>, </a:t>
            </a:r>
            <a:r>
              <a:rPr lang="en-IN" b="0" i="0" dirty="0">
                <a:solidFill>
                  <a:srgbClr val="C41A16"/>
                </a:solidFill>
                <a:effectLst/>
                <a:latin typeface="source-code-pro"/>
              </a:rPr>
              <a:t>'graduate'</a:t>
            </a:r>
            <a:r>
              <a:rPr lang="en-IN" b="0" i="0" dirty="0">
                <a:solidFill>
                  <a:srgbClr val="242424"/>
                </a:solidFill>
                <a:effectLst/>
                <a:latin typeface="source-code-pro"/>
              </a:rPr>
              <a:t>, </a:t>
            </a:r>
            <a:r>
              <a:rPr lang="en-IN" b="0" i="0" dirty="0">
                <a:solidFill>
                  <a:srgbClr val="C41A16"/>
                </a:solidFill>
                <a:effectLst/>
                <a:latin typeface="source-code-pro"/>
              </a:rPr>
              <a:t>'college'</a:t>
            </a:r>
            <a:r>
              <a:rPr lang="en-IN" b="0" i="0" dirty="0">
                <a:solidFill>
                  <a:srgbClr val="242424"/>
                </a:solidFill>
                <a:effectLst/>
                <a:latin typeface="source-code-pro"/>
              </a:rPr>
              <a:t>, </a:t>
            </a:r>
            <a:r>
              <a:rPr lang="en-IN" b="0" i="0" dirty="0">
                <a:solidFill>
                  <a:srgbClr val="C41A16"/>
                </a:solidFill>
                <a:effectLst/>
                <a:latin typeface="source-code-pro"/>
              </a:rPr>
              <a:t>'graduate'</a:t>
            </a:r>
            <a:r>
              <a:rPr lang="en-IN" b="0" i="0" dirty="0">
                <a:solidFill>
                  <a:srgbClr val="242424"/>
                </a:solidFill>
                <a:effectLst/>
                <a:latin typeface="source-code-pro"/>
              </a:rPr>
              <a:t>],</a:t>
            </a:r>
            <a:br>
              <a:rPr lang="en-IN" dirty="0"/>
            </a:br>
            <a:r>
              <a:rPr lang="en-IN" b="0" i="0" dirty="0">
                <a:solidFill>
                  <a:srgbClr val="C41A16"/>
                </a:solidFill>
                <a:effectLst/>
                <a:latin typeface="source-code-pro"/>
              </a:rPr>
              <a:t>'score'</a:t>
            </a:r>
            <a:r>
              <a:rPr lang="en-IN" b="0" i="0" dirty="0">
                <a:solidFill>
                  <a:srgbClr val="242424"/>
                </a:solidFill>
                <a:effectLst/>
                <a:latin typeface="source-code-pro"/>
              </a:rPr>
              <a:t>: [</a:t>
            </a:r>
            <a:r>
              <a:rPr lang="en-IN" b="0" i="0" dirty="0">
                <a:solidFill>
                  <a:srgbClr val="1C00CF"/>
                </a:solidFill>
                <a:effectLst/>
                <a:latin typeface="source-code-pro"/>
              </a:rPr>
              <a:t>75</a:t>
            </a:r>
            <a:r>
              <a:rPr lang="en-IN" b="0" i="0" dirty="0">
                <a:solidFill>
                  <a:srgbClr val="242424"/>
                </a:solidFill>
                <a:effectLst/>
                <a:latin typeface="source-code-pro"/>
              </a:rPr>
              <a:t>, </a:t>
            </a:r>
            <a:r>
              <a:rPr lang="en-IN" b="0" i="0" dirty="0">
                <a:solidFill>
                  <a:srgbClr val="1C00CF"/>
                </a:solidFill>
                <a:effectLst/>
                <a:latin typeface="source-code-pro"/>
              </a:rPr>
              <a:t>82</a:t>
            </a:r>
            <a:r>
              <a:rPr lang="en-IN" b="0" i="0" dirty="0">
                <a:solidFill>
                  <a:srgbClr val="242424"/>
                </a:solidFill>
                <a:effectLst/>
                <a:latin typeface="source-code-pro"/>
              </a:rPr>
              <a:t>, </a:t>
            </a:r>
            <a:r>
              <a:rPr lang="en-IN" b="0" i="0" dirty="0">
                <a:solidFill>
                  <a:srgbClr val="1C00CF"/>
                </a:solidFill>
                <a:effectLst/>
                <a:latin typeface="source-code-pro"/>
              </a:rPr>
              <a:t>88</a:t>
            </a:r>
            <a:r>
              <a:rPr lang="en-IN" b="0" i="0" dirty="0">
                <a:solidFill>
                  <a:srgbClr val="242424"/>
                </a:solidFill>
                <a:effectLst/>
                <a:latin typeface="source-code-pro"/>
              </a:rPr>
              <a:t>, </a:t>
            </a:r>
            <a:r>
              <a:rPr lang="en-IN" b="0" i="0" dirty="0">
                <a:solidFill>
                  <a:srgbClr val="1C00CF"/>
                </a:solidFill>
                <a:effectLst/>
                <a:latin typeface="source-code-pro"/>
              </a:rPr>
              <a:t>95</a:t>
            </a:r>
            <a:r>
              <a:rPr lang="en-IN" b="0" i="0" dirty="0">
                <a:solidFill>
                  <a:srgbClr val="242424"/>
                </a:solidFill>
                <a:effectLst/>
                <a:latin typeface="source-code-pro"/>
              </a:rPr>
              <a:t>, </a:t>
            </a:r>
            <a:r>
              <a:rPr lang="en-IN" b="0" i="0" dirty="0">
                <a:solidFill>
                  <a:srgbClr val="1C00CF"/>
                </a:solidFill>
                <a:effectLst/>
                <a:latin typeface="source-code-pro"/>
              </a:rPr>
              <a:t>69</a:t>
            </a:r>
            <a:r>
              <a:rPr lang="en-IN" b="0" i="0" dirty="0">
                <a:solidFill>
                  <a:srgbClr val="242424"/>
                </a:solidFill>
                <a:effectLst/>
                <a:latin typeface="source-code-pro"/>
              </a:rPr>
              <a:t>, </a:t>
            </a:r>
            <a:r>
              <a:rPr lang="en-IN" b="0" i="0" dirty="0">
                <a:solidFill>
                  <a:srgbClr val="1C00CF"/>
                </a:solidFill>
                <a:effectLst/>
                <a:latin typeface="source-code-pro"/>
              </a:rPr>
              <a:t>92</a:t>
            </a:r>
            <a:r>
              <a:rPr lang="en-IN" b="0" i="0" dirty="0">
                <a:solidFill>
                  <a:srgbClr val="242424"/>
                </a:solidFill>
                <a:effectLst/>
                <a:latin typeface="source-code-pro"/>
              </a:rPr>
              <a:t>, </a:t>
            </a:r>
            <a:r>
              <a:rPr lang="en-IN" b="0" i="0" dirty="0">
                <a:solidFill>
                  <a:srgbClr val="1C00CF"/>
                </a:solidFill>
                <a:effectLst/>
                <a:latin typeface="source-code-pro"/>
              </a:rPr>
              <a:t>78</a:t>
            </a:r>
            <a:r>
              <a:rPr lang="en-IN" b="0" i="0" dirty="0">
                <a:solidFill>
                  <a:srgbClr val="242424"/>
                </a:solidFill>
                <a:effectLst/>
                <a:latin typeface="source-code-pro"/>
              </a:rPr>
              <a:t>, </a:t>
            </a:r>
            <a:r>
              <a:rPr lang="en-IN" b="0" i="0" dirty="0">
                <a:solidFill>
                  <a:srgbClr val="1C00CF"/>
                </a:solidFill>
                <a:effectLst/>
                <a:latin typeface="source-code-pro"/>
              </a:rPr>
              <a:t>85</a:t>
            </a:r>
            <a:r>
              <a:rPr lang="en-IN" b="0" i="0" dirty="0">
                <a:solidFill>
                  <a:srgbClr val="242424"/>
                </a:solidFill>
                <a:effectLst/>
                <a:latin typeface="source-code-pro"/>
              </a:rPr>
              <a:t>]</a:t>
            </a:r>
            <a:br>
              <a:rPr lang="en-IN" dirty="0"/>
            </a:br>
            <a:r>
              <a:rPr lang="en-IN" b="0" i="0" dirty="0">
                <a:solidFill>
                  <a:srgbClr val="242424"/>
                </a:solidFill>
                <a:effectLst/>
                <a:latin typeface="source-code-pro"/>
              </a:rPr>
              <a:t>})</a:t>
            </a:r>
            <a:br>
              <a:rPr lang="en-IN" dirty="0"/>
            </a:br>
            <a:br>
              <a:rPr lang="en-IN" dirty="0"/>
            </a:br>
            <a:r>
              <a:rPr lang="en-IN" b="0" i="0" dirty="0">
                <a:solidFill>
                  <a:srgbClr val="007400"/>
                </a:solidFill>
                <a:effectLst/>
                <a:latin typeface="source-code-pro"/>
              </a:rPr>
              <a:t># create a crosstab table of gender and education level</a:t>
            </a:r>
            <a:br>
              <a:rPr lang="en-IN" dirty="0"/>
            </a:br>
            <a:r>
              <a:rPr lang="en-IN" b="0" i="0" dirty="0" err="1">
                <a:solidFill>
                  <a:srgbClr val="242424"/>
                </a:solidFill>
                <a:effectLst/>
                <a:latin typeface="source-code-pro"/>
              </a:rPr>
              <a:t>ct</a:t>
            </a:r>
            <a:r>
              <a:rPr lang="en-IN" b="0" i="0" dirty="0">
                <a:solidFill>
                  <a:srgbClr val="242424"/>
                </a:solidFill>
                <a:effectLst/>
                <a:latin typeface="source-code-pro"/>
              </a:rPr>
              <a:t> = </a:t>
            </a:r>
            <a:r>
              <a:rPr lang="en-IN" b="0" i="0" dirty="0" err="1">
                <a:solidFill>
                  <a:srgbClr val="242424"/>
                </a:solidFill>
                <a:effectLst/>
                <a:latin typeface="source-code-pro"/>
              </a:rPr>
              <a:t>pd.crosstab</a:t>
            </a:r>
            <a:r>
              <a:rPr lang="en-IN" b="0" i="0" dirty="0">
                <a:solidFill>
                  <a:srgbClr val="242424"/>
                </a:solidFill>
                <a:effectLst/>
                <a:latin typeface="source-code-pro"/>
              </a:rPr>
              <a:t>(</a:t>
            </a:r>
            <a:r>
              <a:rPr lang="en-IN" b="0" i="0" dirty="0" err="1">
                <a:solidFill>
                  <a:srgbClr val="242424"/>
                </a:solidFill>
                <a:effectLst/>
                <a:latin typeface="source-code-pro"/>
              </a:rPr>
              <a:t>df</a:t>
            </a:r>
            <a:r>
              <a:rPr lang="en-IN" b="0" i="0" dirty="0">
                <a:solidFill>
                  <a:srgbClr val="242424"/>
                </a:solidFill>
                <a:effectLst/>
                <a:latin typeface="source-code-pro"/>
              </a:rPr>
              <a:t>[</a:t>
            </a:r>
            <a:r>
              <a:rPr lang="en-IN" b="0" i="0" dirty="0">
                <a:solidFill>
                  <a:srgbClr val="C41A16"/>
                </a:solidFill>
                <a:effectLst/>
                <a:latin typeface="source-code-pro"/>
              </a:rPr>
              <a:t>'gender'</a:t>
            </a:r>
            <a:r>
              <a:rPr lang="en-IN" b="0" i="0" dirty="0">
                <a:solidFill>
                  <a:srgbClr val="242424"/>
                </a:solidFill>
                <a:effectLst/>
                <a:latin typeface="source-code-pro"/>
              </a:rPr>
              <a:t>], </a:t>
            </a:r>
            <a:r>
              <a:rPr lang="en-IN" b="0" i="0" dirty="0" err="1">
                <a:solidFill>
                  <a:srgbClr val="242424"/>
                </a:solidFill>
                <a:effectLst/>
                <a:latin typeface="source-code-pro"/>
              </a:rPr>
              <a:t>df</a:t>
            </a:r>
            <a:r>
              <a:rPr lang="en-IN" b="0" i="0" dirty="0">
                <a:solidFill>
                  <a:srgbClr val="242424"/>
                </a:solidFill>
                <a:effectLst/>
                <a:latin typeface="source-code-pro"/>
              </a:rPr>
              <a:t>[</a:t>
            </a:r>
            <a:r>
              <a:rPr lang="en-IN" b="0" i="0" dirty="0">
                <a:solidFill>
                  <a:srgbClr val="C41A16"/>
                </a:solidFill>
                <a:effectLst/>
                <a:latin typeface="source-code-pro"/>
              </a:rPr>
              <a:t>'</a:t>
            </a:r>
            <a:r>
              <a:rPr lang="en-IN" b="0" i="0" dirty="0" err="1">
                <a:solidFill>
                  <a:srgbClr val="C41A16"/>
                </a:solidFill>
                <a:effectLst/>
                <a:latin typeface="source-code-pro"/>
              </a:rPr>
              <a:t>education_level</a:t>
            </a:r>
            <a:r>
              <a:rPr lang="en-IN" b="0" i="0" dirty="0">
                <a:solidFill>
                  <a:srgbClr val="C41A16"/>
                </a:solidFill>
                <a:effectLst/>
                <a:latin typeface="source-code-pro"/>
              </a:rPr>
              <a:t>'</a:t>
            </a:r>
            <a:r>
              <a:rPr lang="en-IN" b="0" i="0" dirty="0">
                <a:solidFill>
                  <a:srgbClr val="242424"/>
                </a:solidFill>
                <a:effectLst/>
                <a:latin typeface="source-code-pro"/>
              </a:rPr>
              <a:t>])</a:t>
            </a:r>
            <a:br>
              <a:rPr lang="en-IN" dirty="0"/>
            </a:br>
            <a:r>
              <a:rPr lang="en-IN" b="0" i="0" dirty="0">
                <a:solidFill>
                  <a:srgbClr val="5C2699"/>
                </a:solidFill>
                <a:effectLst/>
                <a:latin typeface="source-code-pro"/>
              </a:rPr>
              <a:t>print</a:t>
            </a:r>
            <a:r>
              <a:rPr lang="en-IN" b="0" i="0" dirty="0">
                <a:solidFill>
                  <a:srgbClr val="242424"/>
                </a:solidFill>
                <a:effectLst/>
                <a:latin typeface="source-code-pro"/>
              </a:rPr>
              <a:t>(</a:t>
            </a:r>
            <a:r>
              <a:rPr lang="en-IN" b="0" i="0" dirty="0" err="1">
                <a:solidFill>
                  <a:srgbClr val="242424"/>
                </a:solidFill>
                <a:effectLst/>
                <a:latin typeface="source-code-pro"/>
              </a:rPr>
              <a:t>ct</a:t>
            </a:r>
            <a:r>
              <a:rPr lang="en-IN" b="0" i="0" dirty="0">
                <a:solidFill>
                  <a:srgbClr val="242424"/>
                </a:solidFill>
                <a:effectLst/>
                <a:latin typeface="source-code-pro"/>
              </a:rPr>
              <a:t>)</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399979" y="2679109"/>
            <a:ext cx="7392041" cy="2644369"/>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42424"/>
                </a:solidFill>
                <a:effectLst/>
                <a:latin typeface="sohne"/>
              </a:rPr>
              <a:t>Aggregating Values in Crosstab Table</a:t>
            </a:r>
            <a:br>
              <a:rPr lang="en-US" b="1" i="0" dirty="0">
                <a:solidFill>
                  <a:srgbClr val="242424"/>
                </a:solidFill>
                <a:effectLst/>
                <a:latin typeface="sohne"/>
              </a:rPr>
            </a:br>
            <a:endParaRPr lang="en-IN" dirty="0"/>
          </a:p>
        </p:txBody>
      </p:sp>
      <p:pic>
        <p:nvPicPr>
          <p:cNvPr id="5" name="Content Placeholder 4"/>
          <p:cNvPicPr>
            <a:picLocks noGrp="1" noChangeAspect="1"/>
          </p:cNvPicPr>
          <p:nvPr>
            <p:ph idx="1"/>
          </p:nvPr>
        </p:nvPicPr>
        <p:blipFill>
          <a:blip r:embed="rId2"/>
          <a:stretch>
            <a:fillRect/>
          </a:stretch>
        </p:blipFill>
        <p:spPr>
          <a:xfrm>
            <a:off x="581363" y="1610472"/>
            <a:ext cx="5837365" cy="4351338"/>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42424"/>
                </a:solidFill>
                <a:effectLst/>
                <a:latin typeface="sohne"/>
              </a:rPr>
              <a:t>Adding Row and Column Margins</a:t>
            </a:r>
            <a:br>
              <a:rPr lang="en-US" b="1" i="0" dirty="0">
                <a:solidFill>
                  <a:srgbClr val="242424"/>
                </a:solidFill>
                <a:effectLst/>
                <a:latin typeface="sohne"/>
              </a:rPr>
            </a:br>
            <a:endParaRPr lang="en-IN" dirty="0"/>
          </a:p>
        </p:txBody>
      </p:sp>
      <p:pic>
        <p:nvPicPr>
          <p:cNvPr id="5" name="Content Placeholder 4"/>
          <p:cNvPicPr>
            <a:picLocks noGrp="1" noChangeAspect="1"/>
          </p:cNvPicPr>
          <p:nvPr>
            <p:ph idx="1"/>
          </p:nvPr>
        </p:nvPicPr>
        <p:blipFill>
          <a:blip r:embed="rId2"/>
          <a:stretch>
            <a:fillRect/>
          </a:stretch>
        </p:blipFill>
        <p:spPr>
          <a:xfrm>
            <a:off x="1620037" y="1445386"/>
            <a:ext cx="7696867" cy="1615580"/>
          </a:xfrm>
        </p:spPr>
      </p:pic>
      <p:pic>
        <p:nvPicPr>
          <p:cNvPr id="7" name="Picture 6"/>
          <p:cNvPicPr>
            <a:picLocks noChangeAspect="1"/>
          </p:cNvPicPr>
          <p:nvPr/>
        </p:nvPicPr>
        <p:blipFill>
          <a:blip r:embed="rId3"/>
          <a:stretch>
            <a:fillRect/>
          </a:stretch>
        </p:blipFill>
        <p:spPr>
          <a:xfrm>
            <a:off x="1353671" y="3060966"/>
            <a:ext cx="4393165" cy="3296414"/>
          </a:xfrm>
          <a:prstGeom prst="rect">
            <a:avLst/>
          </a:prstGeom>
        </p:spPr>
      </p:pic>
      <p:pic>
        <p:nvPicPr>
          <p:cNvPr id="9" name="Picture 8"/>
          <p:cNvPicPr>
            <a:picLocks noChangeAspect="1"/>
          </p:cNvPicPr>
          <p:nvPr/>
        </p:nvPicPr>
        <p:blipFill>
          <a:blip r:embed="rId4"/>
          <a:stretch>
            <a:fillRect/>
          </a:stretch>
        </p:blipFill>
        <p:spPr>
          <a:xfrm>
            <a:off x="5997386" y="3313254"/>
            <a:ext cx="5223179" cy="23471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dirty="0">
                <a:solidFill>
                  <a:srgbClr val="242424"/>
                </a:solidFill>
                <a:effectLst/>
                <a:latin typeface="sohne"/>
              </a:rPr>
              <a:t>Normalizing Crosstab Table</a:t>
            </a:r>
            <a:br>
              <a:rPr lang="en-US" b="1" i="0" dirty="0">
                <a:solidFill>
                  <a:srgbClr val="242424"/>
                </a:solidFill>
                <a:effectLst/>
                <a:latin typeface="sohne"/>
              </a:rPr>
            </a:br>
            <a:r>
              <a:rPr lang="en-US" sz="2000" b="0" i="0" dirty="0">
                <a:solidFill>
                  <a:srgbClr val="242424"/>
                </a:solidFill>
                <a:effectLst/>
                <a:latin typeface="source-serif-pro"/>
              </a:rPr>
              <a:t>The crosstab() function also allows you to normalize the table by dividing the values by the grand total. This can be useful for comparing the relative frequencies of different combinations of variables.</a:t>
            </a:r>
            <a:br>
              <a:rPr lang="en-US" sz="2000" b="0" i="0" dirty="0">
                <a:solidFill>
                  <a:srgbClr val="242424"/>
                </a:solidFill>
                <a:effectLst/>
                <a:latin typeface="source-serif-pro"/>
              </a:rPr>
            </a:br>
            <a:endParaRPr lang="en-IN" sz="2000" dirty="0"/>
          </a:p>
        </p:txBody>
      </p:sp>
      <p:pic>
        <p:nvPicPr>
          <p:cNvPr id="5" name="Content Placeholder 4"/>
          <p:cNvPicPr>
            <a:picLocks noGrp="1" noChangeAspect="1"/>
          </p:cNvPicPr>
          <p:nvPr>
            <p:ph idx="1"/>
          </p:nvPr>
        </p:nvPicPr>
        <p:blipFill>
          <a:blip r:embed="rId2"/>
          <a:stretch>
            <a:fillRect/>
          </a:stretch>
        </p:blipFill>
        <p:spPr>
          <a:xfrm>
            <a:off x="2581458" y="1825625"/>
            <a:ext cx="7029084" cy="4351338"/>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5087"/>
          </a:xfrm>
        </p:spPr>
        <p:txBody>
          <a:bodyPr>
            <a:normAutofit fontScale="90000"/>
          </a:bodyPr>
          <a:lstStyle/>
          <a:p>
            <a:r>
              <a:rPr lang="en-IN" b="1" i="0" dirty="0">
                <a:solidFill>
                  <a:srgbClr val="242424"/>
                </a:solidFill>
                <a:effectLst/>
                <a:latin typeface="sohne"/>
              </a:rPr>
              <a:t>Visualizing Crosstab Table</a:t>
            </a:r>
            <a:br>
              <a:rPr lang="en-IN" b="1" i="0" dirty="0">
                <a:solidFill>
                  <a:srgbClr val="242424"/>
                </a:solidFill>
                <a:effectLst/>
                <a:latin typeface="sohne"/>
              </a:rPr>
            </a:br>
            <a:endParaRPr lang="en-IN" dirty="0"/>
          </a:p>
        </p:txBody>
      </p:sp>
      <p:pic>
        <p:nvPicPr>
          <p:cNvPr id="5" name="Content Placeholder 4"/>
          <p:cNvPicPr>
            <a:picLocks noGrp="1" noChangeAspect="1"/>
          </p:cNvPicPr>
          <p:nvPr>
            <p:ph idx="1"/>
          </p:nvPr>
        </p:nvPicPr>
        <p:blipFill>
          <a:blip r:embed="rId2"/>
          <a:stretch>
            <a:fillRect/>
          </a:stretch>
        </p:blipFill>
        <p:spPr>
          <a:xfrm>
            <a:off x="1081775" y="2122714"/>
            <a:ext cx="6040344" cy="3254148"/>
          </a:xfrm>
        </p:spPr>
      </p:pic>
      <p:pic>
        <p:nvPicPr>
          <p:cNvPr id="4" name="Picture 3"/>
          <p:cNvPicPr>
            <a:picLocks noChangeAspect="1"/>
          </p:cNvPicPr>
          <p:nvPr/>
        </p:nvPicPr>
        <p:blipFill>
          <a:blip r:embed="rId3"/>
          <a:stretch>
            <a:fillRect/>
          </a:stretch>
        </p:blipFill>
        <p:spPr>
          <a:xfrm>
            <a:off x="6613433" y="1729071"/>
            <a:ext cx="5448862" cy="41943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IN" sz="7200" dirty="0"/>
          </a:p>
          <a:p>
            <a:pPr marL="0" indent="0">
              <a:buNone/>
            </a:pPr>
            <a:r>
              <a:rPr lang="en-IN" sz="7200" dirty="0"/>
              <a:t>				</a:t>
            </a:r>
          </a:p>
        </p:txBody>
      </p:sp>
      <p:sp>
        <p:nvSpPr>
          <p:cNvPr id="5" name="TextBox 4"/>
          <p:cNvSpPr txBox="1"/>
          <p:nvPr/>
        </p:nvSpPr>
        <p:spPr>
          <a:xfrm>
            <a:off x="663389" y="850757"/>
            <a:ext cx="6096000" cy="369332"/>
          </a:xfrm>
          <a:prstGeom prst="rect">
            <a:avLst/>
          </a:prstGeom>
          <a:noFill/>
        </p:spPr>
        <p:txBody>
          <a:bodyPr wrap="square">
            <a:spAutoFit/>
          </a:bodyPr>
          <a:lstStyle/>
          <a:p>
            <a:pPr algn="l"/>
            <a:r>
              <a:rPr lang="en-US" b="1" i="0" dirty="0">
                <a:solidFill>
                  <a:srgbClr val="242424"/>
                </a:solidFill>
                <a:effectLst/>
                <a:latin typeface="sohne"/>
              </a:rPr>
              <a:t>Using Aggregate Function in Crosstab Table</a:t>
            </a:r>
          </a:p>
        </p:txBody>
      </p:sp>
      <p:pic>
        <p:nvPicPr>
          <p:cNvPr id="7" name="Picture 6"/>
          <p:cNvPicPr>
            <a:picLocks noChangeAspect="1"/>
          </p:cNvPicPr>
          <p:nvPr/>
        </p:nvPicPr>
        <p:blipFill>
          <a:blip r:embed="rId2"/>
          <a:stretch>
            <a:fillRect/>
          </a:stretch>
        </p:blipFill>
        <p:spPr>
          <a:xfrm>
            <a:off x="1274445" y="1507490"/>
            <a:ext cx="8557895" cy="47434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2900"/>
            <a:ext cx="10515600" cy="786765"/>
          </a:xfrm>
        </p:spPr>
        <p:txBody>
          <a:bodyPr/>
          <a:lstStyle/>
          <a:p>
            <a:r>
              <a:rPr lang="en-US"/>
              <a:t>to_datetime()</a:t>
            </a:r>
          </a:p>
        </p:txBody>
      </p:sp>
      <p:sp>
        <p:nvSpPr>
          <p:cNvPr id="3" name="Content Placeholder 2"/>
          <p:cNvSpPr>
            <a:spLocks noGrp="1"/>
          </p:cNvSpPr>
          <p:nvPr>
            <p:ph idx="1"/>
          </p:nvPr>
        </p:nvSpPr>
        <p:spPr>
          <a:xfrm>
            <a:off x="838200" y="1129665"/>
            <a:ext cx="10515600" cy="5047615"/>
          </a:xfrm>
        </p:spPr>
        <p:txBody>
          <a:bodyPr>
            <a:normAutofit fontScale="60000"/>
          </a:bodyPr>
          <a:lstStyle/>
          <a:p>
            <a:r>
              <a:rPr lang="en-US" altLang="en-US" dirty="0"/>
              <a:t>import pandas as pd</a:t>
            </a:r>
          </a:p>
          <a:p>
            <a:r>
              <a:rPr lang="en-US" altLang="en-US" dirty="0" err="1"/>
              <a:t>df</a:t>
            </a:r>
            <a:r>
              <a:rPr lang="en-US" altLang="en-US" dirty="0"/>
              <a:t>=</a:t>
            </a:r>
            <a:r>
              <a:rPr lang="en-US" altLang="en-US" dirty="0" err="1"/>
              <a:t>pd.DataFrame</a:t>
            </a:r>
            <a:r>
              <a:rPr lang="en-US" altLang="en-US" dirty="0"/>
              <a:t>({'Name':['</a:t>
            </a:r>
            <a:r>
              <a:rPr lang="en-US" altLang="en-US" dirty="0" err="1"/>
              <a:t>Alia','Alok','Ravina','Tony</a:t>
            </a:r>
            <a:r>
              <a:rPr lang="en-US" altLang="en-US" dirty="0"/>
              <a:t>'],'DOB':['27-06-1990 09:10:0','15-07-1997 17:34:0',</a:t>
            </a:r>
          </a:p>
          <a:p>
            <a:r>
              <a:rPr lang="en-US" altLang="en-US" dirty="0"/>
              <a:t>'05-05-1994 18:30:30','08-07-1995 20:12:0']})</a:t>
            </a:r>
          </a:p>
          <a:p>
            <a:r>
              <a:rPr lang="en-US" altLang="en-US" dirty="0" err="1"/>
              <a:t>df</a:t>
            </a:r>
            <a:r>
              <a:rPr lang="en-US" altLang="en-US" dirty="0"/>
              <a:t>['DOB']=</a:t>
            </a:r>
            <a:r>
              <a:rPr lang="en-US" altLang="en-US" dirty="0" err="1"/>
              <a:t>pd.to_datetime</a:t>
            </a:r>
            <a:r>
              <a:rPr lang="en-US" altLang="en-US" dirty="0"/>
              <a:t>(</a:t>
            </a:r>
            <a:r>
              <a:rPr lang="en-US" altLang="en-US" dirty="0" err="1"/>
              <a:t>df</a:t>
            </a:r>
            <a:r>
              <a:rPr lang="en-US" altLang="en-US" dirty="0"/>
              <a:t>['DOB'],</a:t>
            </a:r>
            <a:r>
              <a:rPr lang="en-US" altLang="en-US" dirty="0" err="1"/>
              <a:t>dayfirst</a:t>
            </a:r>
            <a:r>
              <a:rPr lang="en-US" altLang="en-US" dirty="0"/>
              <a:t>=True)</a:t>
            </a:r>
          </a:p>
          <a:p>
            <a:r>
              <a:rPr lang="en-US" altLang="en-US" dirty="0" err="1"/>
              <a:t>df</a:t>
            </a:r>
            <a:r>
              <a:rPr lang="en-US" altLang="en-US" dirty="0"/>
              <a:t>['col']=</a:t>
            </a:r>
            <a:r>
              <a:rPr lang="en-US" altLang="en-US" dirty="0" err="1"/>
              <a:t>pd.to_datetime</a:t>
            </a:r>
            <a:r>
              <a:rPr lang="en-US" altLang="en-US" dirty="0"/>
              <a:t>(</a:t>
            </a:r>
            <a:r>
              <a:rPr lang="en-US" altLang="en-US" dirty="0" err="1"/>
              <a:t>df</a:t>
            </a:r>
            <a:r>
              <a:rPr lang="en-US" altLang="en-US" dirty="0"/>
              <a:t>['DOB'],</a:t>
            </a:r>
            <a:r>
              <a:rPr lang="en-US" altLang="en-US" dirty="0" err="1"/>
              <a:t>dayfirst</a:t>
            </a:r>
            <a:r>
              <a:rPr lang="en-US" altLang="en-US" dirty="0"/>
              <a:t>=True).</a:t>
            </a:r>
            <a:r>
              <a:rPr lang="en-US" altLang="en-US" dirty="0" err="1"/>
              <a:t>dt.month_name</a:t>
            </a:r>
            <a:r>
              <a:rPr lang="en-US" altLang="en-US" dirty="0"/>
              <a:t>()</a:t>
            </a:r>
          </a:p>
          <a:p>
            <a:r>
              <a:rPr lang="en-US" altLang="en-US" dirty="0"/>
              <a:t>print(</a:t>
            </a:r>
            <a:r>
              <a:rPr lang="en-US" altLang="en-US" dirty="0" err="1"/>
              <a:t>df</a:t>
            </a:r>
            <a:r>
              <a:rPr lang="en-US" altLang="en-US" dirty="0"/>
              <a:t>)</a:t>
            </a:r>
          </a:p>
          <a:p>
            <a:r>
              <a:rPr lang="en-US" altLang="en-US" dirty="0" err="1"/>
              <a:t>df</a:t>
            </a:r>
            <a:r>
              <a:rPr lang="en-US" altLang="en-US" dirty="0"/>
              <a:t>['DOB']=</a:t>
            </a:r>
            <a:r>
              <a:rPr lang="en-US" altLang="en-US" dirty="0" err="1"/>
              <a:t>pd.to_datetime</a:t>
            </a:r>
            <a:r>
              <a:rPr lang="en-US" altLang="en-US" dirty="0"/>
              <a:t>(</a:t>
            </a:r>
            <a:r>
              <a:rPr lang="en-US" altLang="en-US" dirty="0" err="1"/>
              <a:t>df</a:t>
            </a:r>
            <a:r>
              <a:rPr lang="en-US" altLang="en-US" dirty="0"/>
              <a:t>['DOB']).</a:t>
            </a:r>
            <a:r>
              <a:rPr lang="en-US" altLang="en-US" dirty="0" err="1"/>
              <a:t>dt.strftime</a:t>
            </a:r>
            <a:r>
              <a:rPr lang="en-US" altLang="en-US" dirty="0"/>
              <a:t>("%d-%m-%Y")</a:t>
            </a:r>
          </a:p>
          <a:p>
            <a:r>
              <a:rPr lang="en-US" altLang="en-US" dirty="0"/>
              <a:t>print(</a:t>
            </a:r>
            <a:r>
              <a:rPr lang="en-US" altLang="en-US" dirty="0" err="1"/>
              <a:t>df</a:t>
            </a:r>
            <a:r>
              <a:rPr lang="en-US" altLang="en-US" dirty="0"/>
              <a:t>)</a:t>
            </a:r>
          </a:p>
          <a:p>
            <a:r>
              <a:rPr lang="en-US" altLang="en-US" dirty="0" err="1"/>
              <a:t>df</a:t>
            </a:r>
            <a:r>
              <a:rPr lang="en-US" altLang="en-US" dirty="0"/>
              <a:t>['month']=</a:t>
            </a:r>
            <a:r>
              <a:rPr lang="en-US" altLang="en-US" dirty="0" err="1"/>
              <a:t>df</a:t>
            </a:r>
            <a:r>
              <a:rPr lang="en-US" altLang="en-US" dirty="0"/>
              <a:t>['DOB'].</a:t>
            </a:r>
            <a:r>
              <a:rPr lang="en-US" altLang="en-US" dirty="0" err="1"/>
              <a:t>dt.month_name</a:t>
            </a:r>
            <a:r>
              <a:rPr lang="en-US" altLang="en-US" dirty="0"/>
              <a:t>()</a:t>
            </a:r>
          </a:p>
          <a:p>
            <a:r>
              <a:rPr lang="en-US" altLang="en-US" dirty="0" err="1"/>
              <a:t>df</a:t>
            </a:r>
            <a:r>
              <a:rPr lang="en-US" altLang="en-US" dirty="0"/>
              <a:t>['Day']=</a:t>
            </a:r>
            <a:r>
              <a:rPr lang="en-US" altLang="en-US" dirty="0" err="1"/>
              <a:t>df</a:t>
            </a:r>
            <a:r>
              <a:rPr lang="en-US" altLang="en-US" dirty="0"/>
              <a:t>['DOB'].</a:t>
            </a:r>
            <a:r>
              <a:rPr lang="en-US" altLang="en-US" dirty="0" err="1"/>
              <a:t>dt.day_name</a:t>
            </a:r>
            <a:r>
              <a:rPr lang="en-US" altLang="en-US" dirty="0"/>
              <a:t>()</a:t>
            </a:r>
          </a:p>
          <a:p>
            <a:r>
              <a:rPr lang="en-US" altLang="en-US" dirty="0"/>
              <a:t>print(</a:t>
            </a:r>
            <a:r>
              <a:rPr lang="en-US" altLang="en-US" dirty="0" err="1"/>
              <a:t>df</a:t>
            </a:r>
            <a:r>
              <a:rPr lang="en-US" altLang="en-US" dirty="0"/>
              <a:t>)</a:t>
            </a:r>
          </a:p>
          <a:p>
            <a:r>
              <a:rPr lang="en-US" altLang="en-US" dirty="0" err="1"/>
              <a:t>df</a:t>
            </a:r>
            <a:r>
              <a:rPr lang="en-US" altLang="en-US" dirty="0"/>
              <a:t>['Birth time']=</a:t>
            </a:r>
            <a:r>
              <a:rPr lang="en-US" altLang="en-US" dirty="0" err="1"/>
              <a:t>df</a:t>
            </a:r>
            <a:r>
              <a:rPr lang="en-US" altLang="en-US" dirty="0"/>
              <a:t>['DOB'].</a:t>
            </a:r>
            <a:r>
              <a:rPr lang="en-US" altLang="en-US" dirty="0" err="1"/>
              <a:t>dt.strftime</a:t>
            </a:r>
            <a:r>
              <a:rPr lang="en-US" altLang="en-US" dirty="0"/>
              <a:t>("%I:%M:%S %p")</a:t>
            </a:r>
          </a:p>
          <a:p>
            <a:r>
              <a:rPr lang="en-US" altLang="en-US" dirty="0"/>
              <a:t>print(</a:t>
            </a:r>
            <a:r>
              <a:rPr lang="en-US" altLang="en-US" dirty="0" err="1"/>
              <a:t>df</a:t>
            </a:r>
            <a:r>
              <a:rPr lang="en-US" altLang="en-US" dirty="0"/>
              <a:t>)</a:t>
            </a:r>
          </a:p>
          <a:p>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1278</Words>
  <Application>Microsoft Office PowerPoint</Application>
  <PresentationFormat>Widescreen</PresentationFormat>
  <Paragraphs>99</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Consolas</vt:lpstr>
      <vt:lpstr>sohne</vt:lpstr>
      <vt:lpstr>source-code-pro</vt:lpstr>
      <vt:lpstr>source-serif-pro</vt:lpstr>
      <vt:lpstr>Office Theme</vt:lpstr>
      <vt:lpstr>MERGE VS JOIN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PowerPoint Presentation</vt:lpstr>
      <vt:lpstr>Example Joins</vt:lpstr>
      <vt:lpstr>Example</vt:lpstr>
      <vt:lpstr>PowerPoint Presentation</vt:lpstr>
      <vt:lpstr>Crosstab</vt:lpstr>
      <vt:lpstr>Creating a Simple Crosstab Table </vt:lpstr>
      <vt:lpstr>PowerPoint Presentation</vt:lpstr>
      <vt:lpstr>Aggregating Values in Crosstab Table </vt:lpstr>
      <vt:lpstr>Adding Row and Column Margins </vt:lpstr>
      <vt:lpstr>Normalizing Crosstab Table The crosstab() function also allows you to normalize the table by dividing the values by the grand total. This can be useful for comparing the relative frequencies of different combinations of variables. </vt:lpstr>
      <vt:lpstr>Visualizing Crosstab Table </vt:lpstr>
      <vt:lpstr>PowerPoint Presentation</vt:lpstr>
      <vt:lpstr>to_datetime()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Sappal</dc:creator>
  <cp:lastModifiedBy>Vikash Dhakad</cp:lastModifiedBy>
  <cp:revision>12</cp:revision>
  <dcterms:created xsi:type="dcterms:W3CDTF">2024-07-30T10:06:00Z</dcterms:created>
  <dcterms:modified xsi:type="dcterms:W3CDTF">2025-11-28T08:27:03Z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DA3E3CB597B84338860CCA2DA617D2C5_12</vt:lpwstr>
  </property>
  <property fmtid="{D5CDD505-2E9C-101B-9397-08002B2CF9AE}" pid="3" name="KSOProductBuildVer">
    <vt:lpwstr>1033-12.2.0.19805</vt:lpwstr>
  </property>
</Properties>
</file>