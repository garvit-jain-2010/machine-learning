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6" r:id="rId11"/>
    <p:sldId id="267" r:id="rId12"/>
    <p:sldId id="268" r:id="rId13"/>
    <p:sldId id="270" r:id="rId14"/>
    <p:sldId id="271" r:id="rId15"/>
    <p:sldId id="272" r:id="rId16"/>
    <p:sldId id="269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4" r:id="rId47"/>
    <p:sldId id="305" r:id="rId48"/>
    <p:sldId id="306" r:id="rId49"/>
    <p:sldId id="307" r:id="rId50"/>
    <p:sldId id="308" r:id="rId51"/>
    <p:sldId id="309" r:id="rId52"/>
    <p:sldId id="303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9" r:id="rId62"/>
    <p:sldId id="318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2T12:46:19.95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5004 0 0,'0'0'-256'0'0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2T12:47:43.2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3T12:31:43.8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35 25 1688 0 0,'-34'-22'8429'0'0,"36"22"-8424"0"0,0-1 0 0 0,0 1 0 0 0,0-1 1 0 0,0 1-1 0 0,0 0 0 0 0,0-1 0 0 0,0 1 0 0 0,0 0 0 0 0,0 0 0 0 0,0 1 1 0 0,0-1-1 0 0,3 1 0 0 0,0 0 5 0 0,1-1 71 0 0,2 0 370 0 0,0 0-1619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3T12:36:16.95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5344 0 0,'0'0'-404'0'0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E945EA02-BD3C-4AE8-A3F1-3DEACC0D035E}" type="datetimeFigureOut">
              <a:rPr lang="en-IN" smtClean="0"/>
              <a:t>16-11-2025</a:t>
            </a:fld>
            <a:endParaRPr lang="en-IN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8D5712C-7032-449A-A0EA-BC99437548B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4789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EA02-BD3C-4AE8-A3F1-3DEACC0D035E}" type="datetimeFigureOut">
              <a:rPr lang="en-IN" smtClean="0"/>
              <a:t>16-11-2025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712C-7032-449A-A0EA-BC99437548B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3050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945EA02-BD3C-4AE8-A3F1-3DEACC0D035E}" type="datetimeFigureOut">
              <a:rPr lang="en-IN" smtClean="0"/>
              <a:t>16-11-2025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08D5712C-7032-449A-A0EA-BC99437548B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9164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EA02-BD3C-4AE8-A3F1-3DEACC0D035E}" type="datetimeFigureOut">
              <a:rPr lang="en-IN" smtClean="0"/>
              <a:t>16-11-2025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712C-7032-449A-A0EA-BC99437548B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649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EA02-BD3C-4AE8-A3F1-3DEACC0D035E}" type="datetimeFigureOut">
              <a:rPr lang="en-IN" smtClean="0"/>
              <a:t>16-11-2025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712C-7032-449A-A0EA-BC99437548B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334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EA02-BD3C-4AE8-A3F1-3DEACC0D035E}" type="datetimeFigureOut">
              <a:rPr lang="en-IN" smtClean="0"/>
              <a:t>16-11-2025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712C-7032-449A-A0EA-BC99437548B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650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EA02-BD3C-4AE8-A3F1-3DEACC0D035E}" type="datetimeFigureOut">
              <a:rPr lang="en-IN" smtClean="0"/>
              <a:t>16-11-2025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712C-7032-449A-A0EA-BC99437548B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6815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EA02-BD3C-4AE8-A3F1-3DEACC0D035E}" type="datetimeFigureOut">
              <a:rPr lang="en-IN" smtClean="0"/>
              <a:t>16-11-2025</a:t>
            </a:fld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8D5712C-7032-449A-A0EA-BC99437548B4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530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945EA02-BD3C-4AE8-A3F1-3DEACC0D035E}" type="datetimeFigureOut">
              <a:rPr lang="en-IN" smtClean="0"/>
              <a:t>16-11-2025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8D5712C-7032-449A-A0EA-BC99437548B4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95828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EA02-BD3C-4AE8-A3F1-3DEACC0D035E}" type="datetimeFigureOut">
              <a:rPr lang="en-IN" smtClean="0"/>
              <a:t>16-11-2025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712C-7032-449A-A0EA-BC99437548B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1164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EA02-BD3C-4AE8-A3F1-3DEACC0D035E}" type="datetimeFigureOut">
              <a:rPr lang="en-IN" smtClean="0"/>
              <a:t>16-11-2025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712C-7032-449A-A0EA-BC99437548B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449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945EA02-BD3C-4AE8-A3F1-3DEACC0D035E}" type="datetimeFigureOut">
              <a:rPr lang="en-IN" smtClean="0"/>
              <a:t>16-11-2025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8D5712C-7032-449A-A0EA-BC99437548B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655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90.png"/><Relationship Id="rId4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046C6-D32E-3E30-6330-53CFC40358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Numpy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D91F82-05B1-A40F-E1CD-5917D8EA99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0455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3CBAA-DF4C-FBB6-DF90-DBAECD58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NumPy?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EADBE-4511-A27E-6CB1-3D26F5807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NumPy (Numerical Python) is a fundamental package for scientific computing in Python.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NumPy is a powerful open-source Python library used for:</a:t>
            </a:r>
          </a:p>
          <a:p>
            <a:pPr algn="just"/>
            <a:r>
              <a:rPr lang="en-US" dirty="0"/>
              <a:t>Efficient numerical computations</a:t>
            </a:r>
          </a:p>
          <a:p>
            <a:pPr algn="just"/>
            <a:r>
              <a:rPr lang="en-US" dirty="0"/>
              <a:t>Performing mathematical, logical, statistical, and algebraic operations on data</a:t>
            </a:r>
          </a:p>
          <a:p>
            <a:pPr algn="just"/>
            <a:r>
              <a:rPr lang="en-US" dirty="0"/>
              <a:t>Provides support for large, multi-dimensional arrays and matrices.</a:t>
            </a:r>
          </a:p>
          <a:p>
            <a:pPr algn="just"/>
            <a:r>
              <a:rPr lang="en-US" dirty="0"/>
              <a:t>Contains a collection of mathematical functions to operate on these arrays.      </a:t>
            </a:r>
          </a:p>
          <a:p>
            <a:pPr algn="just"/>
            <a:r>
              <a:rPr lang="en-US" dirty="0"/>
              <a:t>Forms the base for many other scientific libraries (like Pandas, SciPy, Matplotlib).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580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DC798-DC46-A49B-D58E-B3F45A7AA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Installing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34E17-3EA3-C25D-B821-228F88687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Prerequisites: </a:t>
            </a:r>
            <a:r>
              <a:rPr lang="en-US" dirty="0"/>
              <a:t>Python (version 3.5 or above) and pip (Python package installer) should be installed.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Method 1: Using pip</a:t>
            </a:r>
          </a:p>
          <a:p>
            <a:pPr marL="0" indent="0">
              <a:buNone/>
            </a:pPr>
            <a:r>
              <a:rPr lang="en-US" dirty="0"/>
              <a:t>1. Open a terminal/command prompt.   </a:t>
            </a:r>
          </a:p>
          <a:p>
            <a:pPr marL="0" indent="0">
              <a:buNone/>
            </a:pPr>
            <a:r>
              <a:rPr lang="en-US" dirty="0"/>
              <a:t>2. Run: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Wait for the installation to complete.  </a:t>
            </a:r>
          </a:p>
          <a:p>
            <a:pPr marL="0" indent="0">
              <a:buNone/>
            </a:pPr>
            <a:r>
              <a:rPr lang="en-US" dirty="0"/>
              <a:t>4. Verify by trying to import in Python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D02346-1CF3-A8A1-D94C-4CD05F92D6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981" b="29080"/>
          <a:stretch/>
        </p:blipFill>
        <p:spPr>
          <a:xfrm>
            <a:off x="2145010" y="3577991"/>
            <a:ext cx="2888903" cy="58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75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D3280-3C1C-B5FE-A7A4-53763B833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Method 2: </a:t>
            </a:r>
          </a:p>
          <a:p>
            <a:pPr marL="0" indent="0">
              <a:buNone/>
            </a:pPr>
            <a:r>
              <a:rPr lang="en-US" b="1" dirty="0"/>
              <a:t>Using conda (for Anaconda users)</a:t>
            </a:r>
          </a:p>
          <a:p>
            <a:pPr marL="0" indent="0">
              <a:buNone/>
            </a:pPr>
            <a:r>
              <a:rPr lang="en-US" dirty="0"/>
              <a:t>1. Open Anaconda Prompt.  </a:t>
            </a:r>
          </a:p>
          <a:p>
            <a:pPr marL="0" indent="0">
              <a:buNone/>
            </a:pPr>
            <a:r>
              <a:rPr lang="en-US" dirty="0"/>
              <a:t>2. Run: </a:t>
            </a:r>
          </a:p>
          <a:p>
            <a:pPr marL="0" indent="0">
              <a:buNone/>
            </a:pPr>
            <a:r>
              <a:rPr lang="en-US" dirty="0"/>
              <a:t>              conda install numpy  </a:t>
            </a:r>
          </a:p>
          <a:p>
            <a:pPr marL="0" indent="0">
              <a:buNone/>
            </a:pPr>
            <a:r>
              <a:rPr lang="en-US" dirty="0"/>
              <a:t>3. Confirm the installation if prompted.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1990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E1D00-34AA-7877-C46C-2AF711E40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Verifying the Installation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2EB24-1000-8844-EC82-F185C9392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installing NumPy, verify the installation by running the following in a Python shell or script: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This should print the installed version of NumPy without errors.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08CA77-CACA-4E8B-CB9F-D64F1BDF1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352" y="2888205"/>
            <a:ext cx="5355864" cy="135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918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D3609-6B04-A1E6-7343-B28DDEE95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Importing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BD4A5-7BB4-8820-B8FB-AAB55C2A8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 NumPy with the alias `np` for convenience: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import numpy as np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4236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C4407-0C23-C05D-2EF0-C37413D51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an “array”?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7644D-8671-EF64-F606-3BA490C41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computer programming, an array is a structure for storing and retrieving data.</a:t>
            </a:r>
          </a:p>
          <a:p>
            <a:pPr marL="0" indent="0" algn="just">
              <a:buNone/>
            </a:pPr>
            <a:r>
              <a:rPr lang="en-US" dirty="0"/>
              <a:t> </a:t>
            </a:r>
          </a:p>
          <a:p>
            <a:pPr algn="just"/>
            <a:r>
              <a:rPr lang="en-IN" dirty="0"/>
              <a:t>one-dimensional Array</a:t>
            </a:r>
          </a:p>
          <a:p>
            <a:pPr algn="just"/>
            <a:endParaRPr lang="en-IN" dirty="0"/>
          </a:p>
          <a:p>
            <a:pPr algn="just"/>
            <a:r>
              <a:rPr lang="en-US" dirty="0"/>
              <a:t>two-dimensional array would be like a table: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07D5F-258C-762B-1988-58A709C11B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07" t="21072" r="15797"/>
          <a:stretch/>
        </p:blipFill>
        <p:spPr>
          <a:xfrm>
            <a:off x="4269873" y="2691353"/>
            <a:ext cx="2572418" cy="7894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2B9025-CA8A-3CA5-A9B5-DC81D49758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788" r="5273"/>
          <a:stretch/>
        </p:blipFill>
        <p:spPr>
          <a:xfrm>
            <a:off x="4536035" y="4069080"/>
            <a:ext cx="2598897" cy="182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24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A651C-5D6D-05A6-7D33-C22283205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084" y="1463040"/>
            <a:ext cx="10058400" cy="3931920"/>
          </a:xfrm>
        </p:spPr>
        <p:txBody>
          <a:bodyPr>
            <a:normAutofit/>
          </a:bodyPr>
          <a:lstStyle/>
          <a:p>
            <a:r>
              <a:rPr lang="en-US" sz="2000" dirty="0"/>
              <a:t>A three-dimensional array would be like a set of tables.</a:t>
            </a:r>
          </a:p>
          <a:p>
            <a:r>
              <a:rPr lang="en-US" sz="2000" dirty="0"/>
              <a:t>In NumPy, this idea is generalized to an arbitrary number of dimensions, and so the fundamental array class is called </a:t>
            </a:r>
            <a:r>
              <a:rPr lang="en-IN" sz="2000" dirty="0">
                <a:solidFill>
                  <a:srgbClr val="FF0000"/>
                </a:solidFill>
              </a:rPr>
              <a:t>ndarray</a:t>
            </a:r>
          </a:p>
          <a:p>
            <a:pPr marL="0" indent="0">
              <a:buNone/>
            </a:pPr>
            <a:r>
              <a:rPr lang="en-US" sz="2000" dirty="0"/>
              <a:t>   it represents an “N-dimensional array”.</a:t>
            </a:r>
            <a:endParaRPr lang="en-US" sz="2000" b="1" u="sng" dirty="0"/>
          </a:p>
          <a:p>
            <a:pPr marL="0" indent="0">
              <a:buNone/>
            </a:pPr>
            <a:r>
              <a:rPr lang="en-US" sz="2000" b="1" u="sng" dirty="0"/>
              <a:t>Most NumPy arrays have some restrictions. For instance:</a:t>
            </a:r>
          </a:p>
          <a:p>
            <a:r>
              <a:rPr lang="en-US" sz="2000" dirty="0"/>
              <a:t>All elements of the array must be of the same type of data.</a:t>
            </a:r>
          </a:p>
          <a:p>
            <a:r>
              <a:rPr lang="en-US" sz="2000" dirty="0"/>
              <a:t>Once created, the total size of the array can’t change.</a:t>
            </a:r>
          </a:p>
          <a:p>
            <a:r>
              <a:rPr lang="en-US" sz="2000" dirty="0"/>
              <a:t>The shape must be “rectangular”, not “jagged”; e.g., each row of a two-dimensional array must have the same number of columns.</a:t>
            </a:r>
          </a:p>
          <a:p>
            <a:pPr marL="0" indent="0">
              <a:buNone/>
            </a:pPr>
            <a:endParaRPr lang="en-I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470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12616-75B8-55F4-A02D-3F3AF133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Array fundamentals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A9638-1B77-F43C-8311-E8965B58F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way to initialize an array is using a Python sequence, such as a list. For 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Elements of an array can be accessed.</a:t>
            </a:r>
          </a:p>
          <a:p>
            <a:r>
              <a:rPr lang="en-IN" dirty="0"/>
              <a:t>NumPy arrays index start from 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52314-C869-0522-7221-79FEEC0A9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178" y="2549405"/>
            <a:ext cx="6345671" cy="1445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A94FE8-253B-A054-E881-B383F26BC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951" y="4510376"/>
            <a:ext cx="2133898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524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41799-3858-0F61-0D19-0CCB7FD3F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the original list, the array is mutable.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Also like the original list, Python slice notation can be used for indexing.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BB48E9-6BDB-DC13-4352-33E273A3F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498" y="2477388"/>
            <a:ext cx="4574116" cy="11213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37F009-A85B-7740-26A2-37B4A22B5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498" y="4154868"/>
            <a:ext cx="3267531" cy="10860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B9E7869-3408-AEDD-90A2-46FA5CFD93FB}"/>
                  </a:ext>
                </a:extLst>
              </p14:cNvPr>
              <p14:cNvContentPartPr/>
              <p14:nvPr/>
            </p14:nvContentPartPr>
            <p14:xfrm>
              <a:off x="2282017" y="273514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B9E7869-3408-AEDD-90A2-46FA5CFD93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46017" y="2699508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6864DD8-4681-6D12-11E8-18D062B35BF1}"/>
                  </a:ext>
                </a:extLst>
              </p14:cNvPr>
              <p14:cNvContentPartPr/>
              <p14:nvPr/>
            </p14:nvContentPartPr>
            <p14:xfrm>
              <a:off x="12742177" y="2398908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6864DD8-4681-6D12-11E8-18D062B35B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06537" y="2363268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6074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0E350-81B1-D6BA-3FF4-8592FCBF3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704" y="801820"/>
            <a:ext cx="11189369" cy="6056179"/>
          </a:xfrm>
        </p:spPr>
        <p:txBody>
          <a:bodyPr/>
          <a:lstStyle/>
          <a:p>
            <a:r>
              <a:rPr lang="en-US" dirty="0"/>
              <a:t>Two- and higher-dimensional arrays can be initialized from nested Python sequences: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NumPy, a dimension of an array is sometimes referred to as an “axis”.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24C7DC-4A06-4E1E-C239-9278941D1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038" y="1216041"/>
            <a:ext cx="7851455" cy="13776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C9774B-DE95-A4A3-2676-BB30724DD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080" y="3376880"/>
            <a:ext cx="2629267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12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541FA-5554-FF42-3512-0CB8F17A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82870-4302-8C75-2BCA-258BCBB4F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/>
          <a:lstStyle/>
          <a:p>
            <a:r>
              <a:rPr lang="en-IN" dirty="0"/>
              <a:t>0-D (zero-dimensional) array referred to as a “</a:t>
            </a:r>
            <a:r>
              <a:rPr lang="en-IN" b="1" dirty="0"/>
              <a:t>scalar</a:t>
            </a:r>
            <a:r>
              <a:rPr lang="en-IN" dirty="0"/>
              <a:t>”</a:t>
            </a:r>
          </a:p>
          <a:p>
            <a:r>
              <a:rPr lang="en-IN" dirty="0"/>
              <a:t>1-D (one-dimensional) array as a “</a:t>
            </a:r>
            <a:r>
              <a:rPr lang="en-IN" b="1" dirty="0"/>
              <a:t>vector</a:t>
            </a:r>
            <a:r>
              <a:rPr lang="en-IN" dirty="0"/>
              <a:t>”</a:t>
            </a:r>
          </a:p>
          <a:p>
            <a:r>
              <a:rPr lang="en-IN" dirty="0"/>
              <a:t>2-D (two-dimensional) array as a “</a:t>
            </a:r>
            <a:r>
              <a:rPr lang="en-IN" b="1" dirty="0"/>
              <a:t>matrix</a:t>
            </a:r>
            <a:r>
              <a:rPr lang="en-IN" dirty="0"/>
              <a:t>”</a:t>
            </a:r>
          </a:p>
          <a:p>
            <a:r>
              <a:rPr lang="en-US" dirty="0"/>
              <a:t> an N-D (N-dimensional, where “N” is typically an integer greater than 2) array as a “</a:t>
            </a:r>
            <a:r>
              <a:rPr lang="en-US" b="1" dirty="0"/>
              <a:t>tensor</a:t>
            </a:r>
            <a:r>
              <a:rPr lang="en-US" dirty="0"/>
              <a:t>”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1727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2A69-7D4D-2785-CE70-B165CD4B3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Array attributes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F99CA-F605-FCD6-979B-B36105621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of dimensions of an array is contained in the </a:t>
            </a:r>
            <a:r>
              <a:rPr lang="en-IN" b="1" dirty="0">
                <a:solidFill>
                  <a:srgbClr val="FF0000"/>
                </a:solidFill>
              </a:rPr>
              <a:t>ndim </a:t>
            </a:r>
            <a:r>
              <a:rPr lang="en-IN" dirty="0"/>
              <a:t>attribute.</a:t>
            </a:r>
          </a:p>
          <a:p>
            <a:endParaRPr lang="en-IN" dirty="0"/>
          </a:p>
          <a:p>
            <a:endParaRPr lang="en-IN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shape</a:t>
            </a:r>
            <a:r>
              <a:rPr lang="en-US" dirty="0"/>
              <a:t> of an array is a tuple of non-negative integers that specify the number of elements along each dimension</a:t>
            </a:r>
            <a:endParaRPr lang="en-IN" dirty="0"/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8BEB0-5C67-59DE-798E-10A4CC589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816" y="2530599"/>
            <a:ext cx="1789152" cy="7716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9FF6C-D957-0EE8-275A-C859CB0D4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816" y="4069080"/>
            <a:ext cx="2100236" cy="62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6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E869E-69E8-4B38-7744-0B04ACE00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545" y="1029898"/>
            <a:ext cx="10058400" cy="3931920"/>
          </a:xfrm>
        </p:spPr>
        <p:txBody>
          <a:bodyPr/>
          <a:lstStyle/>
          <a:p>
            <a:r>
              <a:rPr lang="en-US" dirty="0"/>
              <a:t>total number of elements in array is contained in the </a:t>
            </a:r>
            <a:r>
              <a:rPr lang="en-IN" b="1" dirty="0">
                <a:solidFill>
                  <a:srgbClr val="FF0000"/>
                </a:solidFill>
              </a:rPr>
              <a:t>size</a:t>
            </a:r>
            <a:r>
              <a:rPr lang="en-IN" dirty="0"/>
              <a:t> attribute.</a:t>
            </a:r>
          </a:p>
          <a:p>
            <a:endParaRPr lang="en-IN" dirty="0"/>
          </a:p>
          <a:p>
            <a:endParaRPr lang="en-IN" dirty="0"/>
          </a:p>
          <a:p>
            <a:r>
              <a:rPr lang="en-US" dirty="0"/>
              <a:t>Arrays are typically </a:t>
            </a:r>
            <a:r>
              <a:rPr lang="en-US" b="1" dirty="0"/>
              <a:t>“homogeneous</a:t>
            </a:r>
            <a:r>
              <a:rPr lang="en-US" dirty="0"/>
              <a:t>”, meaning that they contain elements of only one “data type”.</a:t>
            </a:r>
          </a:p>
          <a:p>
            <a:r>
              <a:rPr lang="en-US" dirty="0"/>
              <a:t>The data type is recorded in the </a:t>
            </a:r>
            <a:r>
              <a:rPr lang="en-IN" b="1" dirty="0">
                <a:solidFill>
                  <a:srgbClr val="FF0000"/>
                </a:solidFill>
              </a:rPr>
              <a:t>dtype </a:t>
            </a:r>
            <a:r>
              <a:rPr lang="en-IN" dirty="0"/>
              <a:t>attribute.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CC1442-CDE1-49A5-1BC3-E3D355DC4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055" y="1411429"/>
            <a:ext cx="2333951" cy="724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F3006E-1549-2823-9BB0-A9DF635FE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055" y="3350219"/>
            <a:ext cx="8659433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D84B7-ED43-A560-8762-6576B9246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create a basic array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2832B-AE77-B847-EE15-47383402B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an array from a sequence of elements, you can easily create an array filled with 0’s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 an array filled with 1’s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FC3401-D9F0-FDF4-81AC-9453F5E77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641" y="2784124"/>
            <a:ext cx="2885446" cy="10465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576FC1-18DA-3F05-FA88-5896AC1AD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641" y="4399481"/>
            <a:ext cx="2980162" cy="112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83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3E86D-AF55-91F7-A629-B5A1C34C4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function empty creates an array whose initial content is random and depends on the state of the memory.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9F993C-1FAF-C00E-06EE-4289A2D61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775451"/>
            <a:ext cx="7354326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327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9EB4D-0DD7-D934-A02F-5740BEB45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create an array with a range of elements: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even an array that contains a range of evenly spaced intervals. To do this, you will specify the </a:t>
            </a:r>
            <a:r>
              <a:rPr lang="en-US" b="1" dirty="0"/>
              <a:t>first number</a:t>
            </a:r>
            <a:r>
              <a:rPr lang="en-US" dirty="0"/>
              <a:t>, </a:t>
            </a:r>
            <a:r>
              <a:rPr lang="en-US" b="1" dirty="0"/>
              <a:t>last number</a:t>
            </a:r>
            <a:r>
              <a:rPr lang="en-US" dirty="0"/>
              <a:t>, and the </a:t>
            </a:r>
            <a:r>
              <a:rPr lang="en-US" b="1" dirty="0"/>
              <a:t>step size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0C4C8C-D3B7-F7F6-3567-803E19B78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485" y="2464928"/>
            <a:ext cx="2881933" cy="8438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D2E23C-1311-3889-9604-B08739B18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486" y="4133687"/>
            <a:ext cx="3583880" cy="94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881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B7BA7-50B0-4AD1-8EA9-4E334307F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993"/>
            <a:ext cx="10515600" cy="4781652"/>
          </a:xfrm>
        </p:spPr>
        <p:txBody>
          <a:bodyPr/>
          <a:lstStyle/>
          <a:p>
            <a:r>
              <a:rPr lang="en-US" dirty="0"/>
              <a:t>You can also use </a:t>
            </a:r>
            <a:r>
              <a:rPr lang="en-US" b="1" dirty="0"/>
              <a:t>np.linspace() </a:t>
            </a:r>
            <a:r>
              <a:rPr lang="en-US" dirty="0"/>
              <a:t>to create an array with values that are spaced linearly in a specified interval:</a:t>
            </a:r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r>
              <a:rPr lang="en-IN" b="1" dirty="0"/>
              <a:t>Specifying your data type</a:t>
            </a:r>
            <a:endParaRPr lang="en-US" dirty="0"/>
          </a:p>
          <a:p>
            <a:r>
              <a:rPr lang="en-US" dirty="0"/>
              <a:t>While the default data type is floating point (np.float64), you can explicitly specify which data type you want using the dtype keyword.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E2D2CB-410F-B841-F7EE-BFB786CDF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505" y="1769808"/>
            <a:ext cx="5207648" cy="916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8D6549-742A-5257-7DAA-9CBBB9125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547" y="4100538"/>
            <a:ext cx="4830576" cy="108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704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BE8A2-51B5-069E-9B0B-D6CE29D7E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070" y="365125"/>
            <a:ext cx="10478729" cy="942565"/>
          </a:xfrm>
        </p:spPr>
        <p:txBody>
          <a:bodyPr>
            <a:noAutofit/>
          </a:bodyPr>
          <a:lstStyle/>
          <a:p>
            <a:r>
              <a:rPr lang="en-US" sz="4000" b="1" dirty="0"/>
              <a:t>Adding, removing, and sorting elements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A9ACE-0D96-E374-E8DA-DEB538196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084" y="1484671"/>
            <a:ext cx="10596716" cy="4692292"/>
          </a:xfrm>
        </p:spPr>
        <p:txBody>
          <a:bodyPr/>
          <a:lstStyle/>
          <a:p>
            <a:r>
              <a:rPr lang="en-US" dirty="0"/>
              <a:t>Sorting an array is simple with </a:t>
            </a:r>
            <a:r>
              <a:rPr lang="en-US" b="1" dirty="0"/>
              <a:t>np.sort() </a:t>
            </a:r>
          </a:p>
          <a:p>
            <a:r>
              <a:rPr lang="en-US" dirty="0"/>
              <a:t>You can specify the axis, kind, and order when you call the function.</a:t>
            </a:r>
          </a:p>
          <a:p>
            <a:r>
              <a:rPr lang="en-US" dirty="0"/>
              <a:t>If you start with this array: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can quickly sort the numbers in ascending order with:</a:t>
            </a:r>
          </a:p>
          <a:p>
            <a:pPr marL="0" indent="0">
              <a:buNone/>
            </a:pPr>
            <a:r>
              <a:rPr lang="en-US" dirty="0"/>
              <a:t>  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F6AFF8-253B-F278-63CB-15F251476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18292"/>
            <a:ext cx="10252588" cy="876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09BC37-3D36-0F61-C61E-0D64AF5C8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70" y="4497700"/>
            <a:ext cx="8042788" cy="14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15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0CBF27-E6B0-B130-348D-1B3885A6C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42" y="1198258"/>
            <a:ext cx="10515600" cy="44614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837BE9D-872C-4239-E8FB-877631B8BEA0}"/>
                  </a:ext>
                </a:extLst>
              </p14:cNvPr>
              <p14:cNvContentPartPr/>
              <p14:nvPr/>
            </p14:nvContentPartPr>
            <p14:xfrm>
              <a:off x="4847737" y="5554781"/>
              <a:ext cx="20520" cy="9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837BE9D-872C-4239-E8FB-877631B8BE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12097" y="5518781"/>
                <a:ext cx="92160" cy="8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5382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84DF9-9A45-D3FA-D92F-34BDB5174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75945"/>
            <a:ext cx="10058400" cy="3931920"/>
          </a:xfrm>
        </p:spPr>
        <p:txBody>
          <a:bodyPr/>
          <a:lstStyle/>
          <a:p>
            <a:r>
              <a:rPr lang="en-US" dirty="0"/>
              <a:t>You can concatenate them with np.concatenate().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C7B6580-FCA0-CDEB-4EE6-B628F6AAC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40" y="925029"/>
            <a:ext cx="5210902" cy="9240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7291E91-0CA7-49B9-8046-6DF0A3261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840" y="2458143"/>
            <a:ext cx="5372850" cy="10764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87AFB26-B639-D57D-030C-BF5CA842A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840" y="3769067"/>
            <a:ext cx="5839640" cy="97168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3829182-6D01-68FF-6A60-099D563F9E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840" y="4808620"/>
            <a:ext cx="5683337" cy="16073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58F5E62-001C-0ED2-2FE7-48ED0DBA6995}"/>
                  </a:ext>
                </a:extLst>
              </p14:cNvPr>
              <p14:cNvContentPartPr/>
              <p14:nvPr/>
            </p14:nvContentPartPr>
            <p14:xfrm>
              <a:off x="4134217" y="4277141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58F5E62-001C-0ED2-2FE7-48ED0DBA699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98217" y="4241141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0423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A2E33-313F-E8F6-5332-DBC7FEF81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546939"/>
            <a:ext cx="10058400" cy="393192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ndarray.ndim </a:t>
            </a:r>
            <a:r>
              <a:rPr lang="en-US" sz="2000" dirty="0"/>
              <a:t>will tell you the number of axes, or dimensions, of the array.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ndarray.size </a:t>
            </a:r>
            <a:r>
              <a:rPr lang="en-US" sz="2000" dirty="0"/>
              <a:t>will tell you the total number of elements of the array. This is the product of the elements of the array’s shape.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ndarray.shape </a:t>
            </a:r>
            <a:r>
              <a:rPr lang="en-US" sz="2000" dirty="0"/>
              <a:t>will display a tuple of integers that indicate the number of elements stored along each dimension of the array. If, for example, you have a 2-D array with 2 rows and 3 columns, the shape of your array is (2, 3).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77482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E8AD17-EC83-5A41-EBC5-715A0B713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93" y="1241163"/>
            <a:ext cx="10406107" cy="416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5291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FDFED1-1421-40C9-A6D8-0FC604FF19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5894"/>
          <a:stretch/>
        </p:blipFill>
        <p:spPr>
          <a:xfrm>
            <a:off x="1200195" y="385418"/>
            <a:ext cx="10375919" cy="608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543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03FE97-B184-48CF-32BB-BDECD6B48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17" y="894122"/>
            <a:ext cx="10371966" cy="506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939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49FEAB-86D6-62AC-F85B-0F2863988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31" y="1179871"/>
            <a:ext cx="10769710" cy="388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33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DDC77-A0A4-09C7-0EB0-4601A0AA1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0930"/>
            <a:ext cx="10058400" cy="1371600"/>
          </a:xfrm>
        </p:spPr>
        <p:txBody>
          <a:bodyPr>
            <a:normAutofit/>
          </a:bodyPr>
          <a:lstStyle/>
          <a:p>
            <a:r>
              <a:rPr lang="en-US" sz="3600" b="1" dirty="0"/>
              <a:t>How to convert a 1D array into a 2D array </a:t>
            </a:r>
            <a:br>
              <a:rPr lang="en-US" sz="3600" b="1" dirty="0"/>
            </a:br>
            <a:r>
              <a:rPr lang="en-US" sz="3600" b="1" dirty="0"/>
              <a:t>(how to add a new axis to an array)</a:t>
            </a: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0F87F2-A65E-62CE-2AF0-33B683770A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3281" y="1712530"/>
            <a:ext cx="8852555" cy="4625318"/>
          </a:xfrm>
        </p:spPr>
      </p:pic>
    </p:spTree>
    <p:extLst>
      <p:ext uri="{BB962C8B-B14F-4D97-AF65-F5344CB8AC3E}">
        <p14:creationId xmlns:p14="http://schemas.microsoft.com/office/powerpoint/2010/main" val="11202007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0DA7ED-E68D-101F-D700-B87C8057A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56" y="509180"/>
            <a:ext cx="10307488" cy="58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01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D6FE1B-AEE7-5720-FE48-86EF8E331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56" y="449312"/>
            <a:ext cx="10307488" cy="2372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28611E-005E-0AD2-D364-06AFEF973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56" y="2978945"/>
            <a:ext cx="10307488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686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4F1470-B26F-7FDC-7D57-899A5FD0E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58" y="540774"/>
            <a:ext cx="10691876" cy="547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91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9F830F-815B-F292-DB8D-0CB83B4D6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16" y="791272"/>
            <a:ext cx="10985168" cy="474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33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5A78834-D640-361A-E73B-326A00050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94" y="1524183"/>
            <a:ext cx="11211612" cy="355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0DBF3-3188-B93F-4245-970209424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63040"/>
            <a:ext cx="10058400" cy="3931920"/>
          </a:xfrm>
        </p:spPr>
        <p:txBody>
          <a:bodyPr>
            <a:normAutofit/>
          </a:bodyPr>
          <a:lstStyle/>
          <a:p>
            <a:r>
              <a:rPr lang="en-US" dirty="0"/>
              <a:t>If you want to select values from your array that fulfill certain conditions, it’s straightforward with NumPy.</a:t>
            </a:r>
          </a:p>
          <a:p>
            <a:r>
              <a:rPr lang="en-US" dirty="0"/>
              <a:t>For example, if you start with this array:</a:t>
            </a:r>
          </a:p>
          <a:p>
            <a:pPr marL="0" indent="0">
              <a:buNone/>
            </a:pPr>
            <a:r>
              <a:rPr lang="en-US" b="1" dirty="0"/>
              <a:t>   a = np.array([[1, 2, 3, 4], [5, 6, 7, 8], [9, 10, 11, 12]])</a:t>
            </a:r>
          </a:p>
          <a:p>
            <a:r>
              <a:rPr lang="en-US" dirty="0"/>
              <a:t>You can easily print all of the values in the array that are less than 5.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b="1" dirty="0"/>
              <a:t>print(a[a &lt; 5])</a:t>
            </a:r>
          </a:p>
          <a:p>
            <a:r>
              <a:rPr lang="en-US" dirty="0"/>
              <a:t>You can also select, for example, numbers that are equal to or greater than 5, and use that condition to index an array.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/>
              <a:t>five_up = (a &gt;= 5)</a:t>
            </a:r>
          </a:p>
          <a:p>
            <a:pPr marL="0" indent="0">
              <a:buNone/>
            </a:pPr>
            <a:r>
              <a:rPr lang="en-US" b="1" dirty="0"/>
              <a:t>   print(a[five_up])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431694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119DD-085F-BB65-A4B4-81574E5BB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204" y="877635"/>
            <a:ext cx="10058400" cy="3931920"/>
          </a:xfrm>
        </p:spPr>
        <p:txBody>
          <a:bodyPr>
            <a:normAutofit/>
          </a:bodyPr>
          <a:lstStyle/>
          <a:p>
            <a:r>
              <a:rPr lang="en-US" sz="2000" dirty="0"/>
              <a:t>You can select elements that are divisible by 2: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b="1" dirty="0"/>
              <a:t>divisible_by_2 = a[a%2==0]</a:t>
            </a:r>
          </a:p>
          <a:p>
            <a:pPr marL="0" indent="0">
              <a:buNone/>
            </a:pPr>
            <a:r>
              <a:rPr lang="en-US" sz="2000" b="1" dirty="0"/>
              <a:t>   print(divisible_by_2)</a:t>
            </a:r>
          </a:p>
          <a:p>
            <a:r>
              <a:rPr lang="en-US" sz="2000" dirty="0"/>
              <a:t>Or you can select elements that satisfy two conditions using the &amp; and | operators:</a:t>
            </a:r>
          </a:p>
          <a:p>
            <a:pPr marL="0" indent="0">
              <a:buNone/>
            </a:pPr>
            <a:r>
              <a:rPr lang="pt-BR" sz="2000" dirty="0"/>
              <a:t>   </a:t>
            </a:r>
            <a:r>
              <a:rPr lang="pt-BR" sz="2000" b="1" dirty="0"/>
              <a:t>c = a[(a &gt; 2) &amp; (a &lt; 11)]</a:t>
            </a:r>
          </a:p>
          <a:p>
            <a:pPr marL="0" indent="0">
              <a:buNone/>
            </a:pPr>
            <a:r>
              <a:rPr lang="pt-BR" sz="2000" b="1" dirty="0"/>
              <a:t>   print(c)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0636683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FE42A-00F8-7E9E-F5F6-CE42CB985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118" y="1377256"/>
            <a:ext cx="10058400" cy="3931920"/>
          </a:xfrm>
        </p:spPr>
        <p:txBody>
          <a:bodyPr/>
          <a:lstStyle/>
          <a:p>
            <a:r>
              <a:rPr lang="en-US" dirty="0"/>
              <a:t>You can also make use of the logical operators </a:t>
            </a:r>
            <a:r>
              <a:rPr lang="en-US" b="1" dirty="0"/>
              <a:t>&amp;</a:t>
            </a:r>
            <a:r>
              <a:rPr lang="en-US" dirty="0"/>
              <a:t> and </a:t>
            </a:r>
            <a:r>
              <a:rPr lang="en-US" b="1" dirty="0"/>
              <a:t>|</a:t>
            </a:r>
            <a:r>
              <a:rPr lang="en-US" dirty="0"/>
              <a:t> in order to return boolean values that specify whether or not the values in an array fulfill a certain condition. This can be useful with arrays that contain names or other categorical values.</a:t>
            </a:r>
          </a:p>
          <a:p>
            <a:pPr marL="0" indent="0">
              <a:buNone/>
            </a:pPr>
            <a:r>
              <a:rPr lang="en-US" dirty="0"/>
              <a:t>   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B77C65-4609-EAFE-4195-C36B78EF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482" y="2717964"/>
            <a:ext cx="6832876" cy="259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975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2835B-A6E3-0111-776B-76A79BF0F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981" y="1094452"/>
            <a:ext cx="10058400" cy="3931920"/>
          </a:xfrm>
        </p:spPr>
        <p:txBody>
          <a:bodyPr/>
          <a:lstStyle/>
          <a:p>
            <a:r>
              <a:rPr lang="en-US" dirty="0"/>
              <a:t>You can also use </a:t>
            </a:r>
            <a:r>
              <a:rPr lang="en-US" b="1" dirty="0">
                <a:solidFill>
                  <a:srgbClr val="C00000"/>
                </a:solidFill>
              </a:rPr>
              <a:t>np.nonzero() </a:t>
            </a:r>
            <a:r>
              <a:rPr lang="en-US" dirty="0"/>
              <a:t>to select elements or indices from an array. </a:t>
            </a:r>
            <a:r>
              <a:rPr lang="en-IN" dirty="0"/>
              <a:t>Starting with this array:</a:t>
            </a:r>
          </a:p>
          <a:p>
            <a:pPr marL="0" indent="0">
              <a:buNone/>
            </a:pPr>
            <a:r>
              <a:rPr lang="en-US" b="1" dirty="0"/>
              <a:t>   a = np.array([[1, 2, 3, 4], [5, 6, 7, 8], [9, 10, 11, 12]])</a:t>
            </a:r>
          </a:p>
          <a:p>
            <a:r>
              <a:rPr lang="en-US" dirty="0"/>
              <a:t>You can use np.nonzero() to print the indices of elements that are, for example, less than 5: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4EC3E-DE4B-366C-F9F3-AA8E44A85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155" y="3060412"/>
            <a:ext cx="8558002" cy="187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04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8C36E-2CF8-1E99-9898-2761B055E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also use np.nonzero() to print the elements in an array that are less than 5 with: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044563-B40B-2E48-7AE3-5D98AEF55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158" y="2673458"/>
            <a:ext cx="3837959" cy="139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0259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6B3A5-5470-EEBC-A9CD-C2DD1A361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49" y="388070"/>
            <a:ext cx="11535019" cy="13716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create an array from existing data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8ED8B-28B2-C10D-1524-EBFB4C5E5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74" y="1971682"/>
            <a:ext cx="10058400" cy="3931920"/>
          </a:xfrm>
        </p:spPr>
        <p:txBody>
          <a:bodyPr>
            <a:normAutofit/>
          </a:bodyPr>
          <a:lstStyle/>
          <a:p>
            <a:r>
              <a:rPr lang="en-US" dirty="0"/>
              <a:t>You can easily create a new array from a section of an existing array.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can create a new array from a section of your array any time by specifying where you want to slice your array.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Reminder: Array indexes begin at 0. This means the first element of the array is at index 0, the second element is at index 1, and so on.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431657-BAEA-FA45-5E72-32481CCAE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765" y="2405993"/>
            <a:ext cx="7589919" cy="5486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2C7D5B-B08C-C582-4BC8-804AED493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765" y="3861796"/>
            <a:ext cx="2990593" cy="105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2210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E0828-B633-21E5-CD89-237CDCEBB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130" y="825620"/>
            <a:ext cx="10058400" cy="5206212"/>
          </a:xfrm>
        </p:spPr>
        <p:txBody>
          <a:bodyPr/>
          <a:lstStyle/>
          <a:p>
            <a:r>
              <a:rPr lang="en-US" dirty="0"/>
              <a:t>You can also stack two existing arrays, both vertically and horizontally. Let’s say you have two arrays, a1 and a2: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 can stack them vertically with vstack: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6B04A8-CA72-3EA5-5164-C809E596C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258" y="1477862"/>
            <a:ext cx="3907687" cy="17873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7F9245-28F8-731A-67EC-9D07DD061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258" y="3917426"/>
            <a:ext cx="3399172" cy="167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199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18E5F-9861-EFC8-0805-58362CA28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314" y="538270"/>
            <a:ext cx="10058400" cy="3931920"/>
          </a:xfrm>
        </p:spPr>
        <p:txBody>
          <a:bodyPr/>
          <a:lstStyle/>
          <a:p>
            <a:r>
              <a:rPr lang="en-US" dirty="0"/>
              <a:t>Or stack them horizontally with hstack: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B6AA29-7DB9-632A-D2D0-4F6A77107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85" y="1108614"/>
            <a:ext cx="3010320" cy="924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55D83E-2035-748C-C1F6-72B52C16E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85" y="2387581"/>
            <a:ext cx="7371424" cy="316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1079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12BAD0-98D6-99B3-F3BF-F0D247F10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452" y="561575"/>
            <a:ext cx="8745170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8168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9898DF-82FD-294C-B58A-14A264DC7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151" y="985496"/>
            <a:ext cx="8935697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377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E647B2-2389-DB4B-0050-367772AF4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84" y="384890"/>
            <a:ext cx="8569632" cy="608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268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1BE0B6-B2CD-F4E3-09E4-433BDB8EF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101" y="331984"/>
            <a:ext cx="7725798" cy="619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8845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213269-DAA7-FB3F-30C5-9B4E87763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447" y="451870"/>
            <a:ext cx="8225105" cy="595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0172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88E41D-DEC0-172C-0482-65C076855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553" y="187082"/>
            <a:ext cx="8656893" cy="648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3158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3F9FB8A-1222-159B-4C17-39E88F298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283" y="775917"/>
            <a:ext cx="9021434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383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3FA7E5-BB56-E53C-4F29-B1974F556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62" y="1361786"/>
            <a:ext cx="8783276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480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51408-0F34-E6D5-241C-5E0899C18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664" y="385586"/>
            <a:ext cx="8974394" cy="68779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Useful array operations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B2668-8C08-216E-CC92-FC629D299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739" y="1183185"/>
            <a:ext cx="7963653" cy="528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3577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BB0B83-E308-F7CA-861A-D9454F3A5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41" y="343994"/>
            <a:ext cx="8107917" cy="617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2654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E2FC15D-BCFD-EFBF-5B4A-C72D0D3E2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44" y="963890"/>
            <a:ext cx="10936911" cy="451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0670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01B126-1685-2A7E-062C-E69310FF7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546" y="642548"/>
            <a:ext cx="8830907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5678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24668B-9072-1BE7-45DE-19FF9C644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020" y="442495"/>
            <a:ext cx="8849960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11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36BEEA-967F-40F0-AE72-F72321DFA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57" y="952460"/>
            <a:ext cx="8859486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8472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52B316-D275-7A9D-4947-488E40B57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967" y="170995"/>
            <a:ext cx="8888065" cy="65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629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7EA8A4-3FEE-5D32-D98C-DC4A420CA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78" y="942628"/>
            <a:ext cx="8916644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516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E979B1-D66F-463E-246B-FE2DB5DB3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020" y="547285"/>
            <a:ext cx="8849960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127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3BF71E-EDF9-1E57-F438-9ED778074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67" y="423702"/>
            <a:ext cx="5061114" cy="594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438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CCE792-5FC5-58B2-EDEB-6A4AA9A9E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562" y="332589"/>
            <a:ext cx="8346669" cy="38475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F387BC-691A-84FC-BB4D-900040C5C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562" y="4250318"/>
            <a:ext cx="8076341" cy="206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495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495E40-393D-6406-A934-A47D8E19B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202" y="203210"/>
            <a:ext cx="8524662" cy="645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268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D4BEEE-B0B1-476B-0AD7-27FDC6F67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506" y="297547"/>
            <a:ext cx="7992988" cy="626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0035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C82C7-0A66-F2D8-338D-41B68B811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314" y="137160"/>
            <a:ext cx="10058400" cy="1371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How to get unique items and counts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10E26-E27C-0149-1AA4-C93B412F0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155" y="1463040"/>
            <a:ext cx="10058400" cy="3931920"/>
          </a:xfrm>
        </p:spPr>
        <p:txBody>
          <a:bodyPr/>
          <a:lstStyle/>
          <a:p>
            <a:r>
              <a:rPr lang="en-US" dirty="0"/>
              <a:t>You can find the unique elements in an array easily with np.unique.</a:t>
            </a:r>
          </a:p>
          <a:p>
            <a:r>
              <a:rPr lang="en-US" dirty="0"/>
              <a:t>For example, if you start with this array:</a:t>
            </a:r>
          </a:p>
          <a:p>
            <a:r>
              <a:rPr lang="en-US" dirty="0"/>
              <a:t>a = np.array([11, 11, 12, 13, 14, 15, 16, 17, 12, 13, 11, 14, 18, 19, 20])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DA5D1-1610-24FA-6B73-A5DBE48D8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55" y="3046857"/>
            <a:ext cx="10802392" cy="250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051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839B78-94C6-A4D7-3B31-B8DC571ED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87" y="344209"/>
            <a:ext cx="9512409" cy="579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388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EB94AF-B727-A118-89D3-D34A7FD6D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61" y="240393"/>
            <a:ext cx="9504106" cy="637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230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2C9626-D0B5-9596-1452-619CED262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1716"/>
            <a:ext cx="12192000" cy="416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037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7F34D-75FC-C2C5-98F1-654526046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Transposing and reshaping a matrix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42043B-5857-09A4-75AD-63EE806EF6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45991"/>
            <a:ext cx="9021434" cy="3143689"/>
          </a:xfrm>
        </p:spPr>
      </p:pic>
    </p:spTree>
    <p:extLst>
      <p:ext uri="{BB962C8B-B14F-4D97-AF65-F5344CB8AC3E}">
        <p14:creationId xmlns:p14="http://schemas.microsoft.com/office/powerpoint/2010/main" val="11017009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7B1A6A-D7AE-04B6-2EEC-BBAD27C0A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335" y="42390"/>
            <a:ext cx="9345329" cy="677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1241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876628-C4A1-53CB-D2B7-E43A684BF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454" y="0"/>
            <a:ext cx="8825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4656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033C-F226-051D-8510-AB79D227B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942" y="176981"/>
            <a:ext cx="9835069" cy="874611"/>
          </a:xfrm>
        </p:spPr>
        <p:txBody>
          <a:bodyPr/>
          <a:lstStyle/>
          <a:p>
            <a:r>
              <a:rPr lang="en-US" b="1" dirty="0"/>
              <a:t>How to reverse an array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0DB92B-2D1E-7EDF-7CED-596AA3902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942" y="1228834"/>
            <a:ext cx="9469171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34263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F218D0-A7BC-9178-4BDF-7365BD45B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230" y="99548"/>
            <a:ext cx="9421540" cy="66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625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D2C244-6BB7-91A0-C00C-22D313C0A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004" y="0"/>
            <a:ext cx="8805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789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A6DE5F-E942-BBFD-59D2-3636000E4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230" y="2271551"/>
            <a:ext cx="9421540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6689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31137-63BD-0A6B-C2BB-F7AD27496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25" y="0"/>
            <a:ext cx="10321412" cy="1936753"/>
          </a:xfrm>
        </p:spPr>
        <p:txBody>
          <a:bodyPr>
            <a:normAutofit/>
          </a:bodyPr>
          <a:lstStyle/>
          <a:p>
            <a:r>
              <a:rPr lang="en-IN" b="1" dirty="0"/>
              <a:t>Reshaping and flattening multidimensional arrays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AE8598-DC51-DFFC-629E-AC6DF29A3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79" y="1656630"/>
            <a:ext cx="9421540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9483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CD3712-31E9-C2AC-674A-4598B8EE9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465" y="271743"/>
            <a:ext cx="8451070" cy="631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416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FF35A4-793F-FF62-F50F-FC90D374BA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2800" y="460547"/>
            <a:ext cx="7806399" cy="593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681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1796</TotalTime>
  <Words>1471</Words>
  <Application>Microsoft Office PowerPoint</Application>
  <PresentationFormat>Widescreen</PresentationFormat>
  <Paragraphs>160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Century Gothic</vt:lpstr>
      <vt:lpstr>Garamond</vt:lpstr>
      <vt:lpstr>Savon</vt:lpstr>
      <vt:lpstr>Numpy</vt:lpstr>
      <vt:lpstr>What is NumPy?</vt:lpstr>
      <vt:lpstr>Installing NumPy</vt:lpstr>
      <vt:lpstr>PowerPoint Presentation</vt:lpstr>
      <vt:lpstr>Verifying the Installation</vt:lpstr>
      <vt:lpstr>Importing NumPy</vt:lpstr>
      <vt:lpstr>What is an “array”?</vt:lpstr>
      <vt:lpstr>PowerPoint Presentation</vt:lpstr>
      <vt:lpstr>Array fundamentals</vt:lpstr>
      <vt:lpstr>PowerPoint Presentation</vt:lpstr>
      <vt:lpstr>PowerPoint Presentation</vt:lpstr>
      <vt:lpstr>Note:</vt:lpstr>
      <vt:lpstr>Array attributes</vt:lpstr>
      <vt:lpstr>PowerPoint Presentation</vt:lpstr>
      <vt:lpstr>How to create a basic array</vt:lpstr>
      <vt:lpstr>PowerPoint Presentation</vt:lpstr>
      <vt:lpstr>PowerPoint Presentation</vt:lpstr>
      <vt:lpstr>PowerPoint Presentation</vt:lpstr>
      <vt:lpstr>Adding, removing, and sorting elements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convert a 1D array into a 2D array  (how to add a new axis to an array)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create an array from existing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Useful array operations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get unique items and counts</vt:lpstr>
      <vt:lpstr>PowerPoint Presentation</vt:lpstr>
      <vt:lpstr>PowerPoint Presentation</vt:lpstr>
      <vt:lpstr>PowerPoint Presentation</vt:lpstr>
      <vt:lpstr>Transposing and reshaping a matrix</vt:lpstr>
      <vt:lpstr>PowerPoint Presentation</vt:lpstr>
      <vt:lpstr>PowerPoint Presentation</vt:lpstr>
      <vt:lpstr>How to reverse an array</vt:lpstr>
      <vt:lpstr>PowerPoint Presentation</vt:lpstr>
      <vt:lpstr>PowerPoint Presentation</vt:lpstr>
      <vt:lpstr>PowerPoint Presentation</vt:lpstr>
      <vt:lpstr>Reshaping and flattening multidimensional arrays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</dc:title>
  <dc:creator>Dheeraj Gupta</dc:creator>
  <cp:lastModifiedBy>Dell</cp:lastModifiedBy>
  <cp:revision>52</cp:revision>
  <dcterms:created xsi:type="dcterms:W3CDTF">2025-07-15T07:56:03Z</dcterms:created>
  <dcterms:modified xsi:type="dcterms:W3CDTF">2025-11-16T18:53:36Z</dcterms:modified>
</cp:coreProperties>
</file>